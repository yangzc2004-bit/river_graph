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44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各位老师同学好，这次阶段汇报介绍河网感知图神经网络重构稀疏 DOC 观测的工作。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核心问题是流域里溶解有机碳监测只有不到一成的时空格子有观测，我们尝试让河网拓扑本身成为补全信号。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目前方法消融阶梯已经闭合，全量结果冻结和论文四图正在收尾。汇报分五个部分：背景、思路与数据、协议与方法、结果与诊断、局限与计划。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汇报分五个部分。前两部分建立问题和数据：为什么 DOC 观测稀疏、我们如何把河网变成图。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第三部分是评测协议和方法消融阶梯，第四部分是当前结果和两个深入诊断，最后给出局限、后续安排和小结。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全程数字都来自仓库里冻结的实验结果，可以逐格追溯到 mask 和预测文件。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先看问题的量级：流域内近一万两千个站点测过 DOC，但真正有可用序列的只有约 570 个，时空格子的观测覆盖率只有 8.9%。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三类传统方法各有盲区：插值忽略河网，表格模型忽略站点间因果，普通 GCN 又丢掉了流向。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所以核心矛盾是：数据稀疏，但河网拓扑是一个免费的强先验，本研究要回答它到底能补回多少信息。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Figure 1 把科学问题画成三种范式：面板 a 是稀疏观测本身，面板 b 是欧氏插值，只看地理距离、忽略连通；面板 c 是我们的路线，沿河网边传递消息。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关键追问是：河网拓扑是否提供了超出距离插值的信息。这分解为右侧三个研究问题，分别对应拓扑消融、遮罩率、时空外推。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所有实验都统一为同一个任务形态：站点图上的时空遮罩重构，预测单位是月均 DOC。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核心思路是三类信息汇合：稀疏的 DOC 标签、河网拓扑、汇水区生态身份，送进有向传输图神经网络，输出未测格子的 DOC。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为了让每一步都可辩护，我们采用消融阶梯：每一级只加一个假设，拓扑、方向、传输、身份各自对应一组对照，全部跑同一套冻结 mask。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这页是全篇主线，后面的方法演化和结果表都按这条阶梯展开。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数据全部来自公开源：DOC 标签是 USGS 的 00681 参数，1972 到 2026 年月均，共 33048 个观测格。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站点图通过 NLDI 在 NHDPlus 上沿河导航构建，571 个站、562 条上游到下游的有向边，最大连通分量 407 站，也是 E3 空间留出实验的采样域。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整条流水线脚本化可复现；特别强调泄漏规则：测试格的 DOC 通道永远置零，生态属性是不含评测期信息的静态量，保证时序和空间实验都没有信息泄漏。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Figure 2 是整个 MVP 的框架，五个面板从左到右就是数据流水线。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 是多源数据：DOC 月观测、站点、环境协变量与河网拓扑；b 把河流系统表示成有向图，节点携带观测与协变量，边沿流向；c 是非图基线与 GNN 家族的对照。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 是四类评测场景 E1、E2a、E2b、E3；e 是输出：重构 DOC 值、基准对比以及碳通量估计的不确定性收窄。下一页展开评测协议。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评测分四类场景。E1 是随机遮罩，回答拓扑有没有用、能扛多大缺失率；E2a 是严格未来预测，未来一个 DOC 都看不到；E2b 更贴近现实，监测网继续运行、保留两成同月观测作上下文。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E3 是空间外推，整站留出，检验信息能否沿河传到没监测的地方。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四个不使用河网的基线、统一的 RMSE、MAE、R² 指标，以及 Phase 0 冻结机制，保证后面每一张表都是同一标尺下的公平对比。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这是全文的方法主线。G0 是最普通的无向 GCN，只证明真实河网比随机图和无图强。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H1 把上游和下游权重分开，第一次在时间实验 E2 上超过随机森林；H2 用河段物理量做边门控，传播强度不再均匀；H2E 直接拼接 StreamCat 生态属性，把 E3 的 R² 从 0.23 拉到 0.32。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H2X 把生态属性用 MLP 编码成身份嵌入，是当前总体最佳模型。注意每一级都只改一个因素，所以每一步的增益都可归因。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Figure 4 把迭代路径画出来，左侧是读图顺序：每一级都有明确的物理或生态动机，而不是堆参数。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中间还有一个没画在主阶梯上的稳定化版本 H1.5：H1 曾在 E3 出现 R² 为负的崩溃，根因是参数过多叠加极端值，我们用共享权重、乘法方向门、edge dropout、权重衰减和训练分位 clamp 修复了它。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这个细节说明模型增益来自设计而非调参运气。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这页讲两个关键机制。左边是 H2 的边物理门控：每条边的传播强度由跳数、河段长、河级、汇水面积和坡度算出，不再是 GCN 式的均匀平均；消息只对上游邻域 j 求和，方向权重 W_up 与 W_down 仍然分离。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 H2X 的生态身份编码器：静态汇水区属性经过 MLP 变成身份嵌入，和动态特征拼接，这样完全没见过的站点也有合理的初始表征。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底部消融显示四组生态属性互补，全量最好；两个机制分工明确，一个管怎么传，一个管是什么。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这是全部模型在六个场景下的 MAE 总表，单位 mg/L，越低越好。栗色行是基线，金色高亮的 H2X 是我们的最终模型。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三个要点：第一，无向 GCN 不如随机森林，说明光有图不够；第二，H1 靠方向在 E2a 首次超过 RF；第三，也是最关键的，E3 空间留出上只有加了生态身份的 H2E 和 H2X 明显下降，H2X 到 1.79。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H2X 的部分 E1 格还在全量冻结中，用剑号标出，不夸大已完成范围。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 Figure 3 同时看 E2b 和 E3。E2b 缺口填补场景下 H2X 的 MAE 是 0.96、R² 0.47，是所有模型里最好的。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E3 空间留出下 H2X 平均 MAE 1.79，但三个 seed 的 R² 从 0.08 到 0.53 波动很大，说明留出哪些站比随机种子本身更影响结论，所以我们坚持报告区间。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结论是生态身份的增益主要在空间外推兑现，这和方法阶梯的设计预期一致。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把 E3 的误差画到地图上，发现高误差集中在源头站，也就是上游度为零的站。45 个源头站从 H2 到 H2E，MAE 从 2.79 降到 2.21，32 个站改善；最难的 HUC10、11 高山子集从 3.24 降到 2.52。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回溯发现 H1 当年在 E3 崩溃不是模型容量问题，而是高山源头站既没有上游消息、DOC 本底又高，还被训练集最大值 clamp 削顶。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修复后结论很清楚：空间外推要同时知道连到谁、自己是什么河。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第二个诊断是单个极端站 06438000。它只有 28 个月有观测，最大值 460，但中位数只有 6.8，六个超过 50 的月份全部集中在 1978 到 1980 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我们逐一排查了常见解释：和流量相关系数几乎为零，上游站一直是低值，pH、电导率、水温都没信号。结论是月均输入里根本没有编码这段历史高值 regime 的信息。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所以这不是加大模型能解决的，论文里把它表述为可解释的系统性欠预测，用不确定性量化处理，而不是硬追点精度。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这一页只讲局限，共五条。全量冻结还没跑完，H2X 部分格子用剑号标出；H3 时序模块还没上结果；1970 年代的极端 regime 月均特征编码不了。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目前只有密西西比一个流域，站点采样也不均匀，E3 对 seed 敏感，生态消融还没全部并入主表。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我们的原则是显式标注这些缺口，下一页逐条对应到计划。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计划分四档。P0 本周收口：把 H2X 剩余冻结格跑完、更新主表、定稿四张主图。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P1 做论文图和证据链，P2 上 H3 时序模块、完整生态消融和预测区间，P3 扩展到第二流域和跨流域迁移。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写作上以诊断驱动的消融阶梯为主线，每一步增益可归因，两个诊断案例进入正文机制章节。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用四句话收束。第一，问题层面，8.9% 的覆盖率下，河网拓扑和生态身份是两类可利用先验。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第二，方法层面，G0 到 H2X 的四级消融让每个增益都可归因。第三，结果层面，方向赢时间、身份赢空间，E2b 0.96、E3 1.79、源头站明显修复。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第四，状态诚实：主结论可汇报，冻结和主图在收尾，H3 和外流域是下一步，全部数字在仓库里可复现。谢谢大家。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1473200"/>
            <a:ext cx="584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阶段成果汇报 · STAGE PROGRESS REPORT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0551" flipH="false" flipV="false">
            <a:off x="711247" y="1898650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11200" y="2133600"/>
            <a:ext cx="62484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1666"/>
              </a:lnSpc>
              <a:defRPr/>
            </a:pPr>
            <a:r>
              <a:rPr lang="en-US" b="true" i="false" strike="noStrike" u="none" sz="3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河网感知图神经网络</a:t>
            </a:r>
            <a:endParaRPr lang="en-US" sz="1100"/>
          </a:p>
          <a:p>
            <a:pPr algn="l" marL="0" indent="0">
              <a:lnSpc>
                <a:spcPct val="111666"/>
              </a:lnSpc>
            </a:pPr>
            <a:r>
              <a:rPr lang="en-US" b="true" i="false" strike="noStrike" u="none" sz="3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重构密西西比河流域稀疏 DOC 观测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" y="3962400"/>
            <a:ext cx="5969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tru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Topology-aware Graph Neural Networks for Reconstructing Sparse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tru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Dissolved Organic Carbon Observations in the Mississippi River Basin</a:t>
            </a:r>
          </a:p>
        </p:txBody>
      </p:sp>
      <p:cxnSp>
        <p:nvCxnSpPr>
          <p:cNvPr name="Connector 6" id="6"/>
          <p:cNvCxnSpPr/>
          <p:nvPr/>
        </p:nvCxnSpPr>
        <p:spPr>
          <a:xfrm rot="-7707" flipH="false" flipV="false">
            <a:off x="711207" y="5073650"/>
            <a:ext cx="566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11200" y="5232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方法阶梯已闭合 · 全量冻结与论文四图进行中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56134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 · 组会阶段汇报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62800" y="1498600"/>
            <a:ext cx="4419600" cy="33147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7162800" y="4902200"/>
            <a:ext cx="4419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图｜密西西比河流域 571 个 DOC 监测站点，最大连通分量 407 站；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来源：USGS NWIS 站点目录与 NLDI / NHDPlus 河网。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" y="6350000"/>
            <a:ext cx="5969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river_graph 研究仓库 · masks / predictions / results 已冻结，全流程脚本可复现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635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汇报路线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OUTLINE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3208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81200" y="1371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研究背景与科学问题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26200" y="14478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DOC 监测为何稀疏，河网先验对应哪三个研究问题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131" flipH="false" flipV="false">
            <a:off x="812804" y="2101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12800" y="2286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81200" y="23368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核心思路与数据基础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26200" y="24130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三类信息如何汇合，流域站点图与公开数据流水线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3067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12800" y="32512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81200" y="330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评测协议与方法阶梯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26200" y="33782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E1 / E2a / E2b / E3 协议，与 G0→H2X 的逐级消融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131" flipH="false" flipV="false">
            <a:off x="812804" y="4032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12800" y="42164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981200" y="42672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阶段结果与诊断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26200" y="43434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主结果表、关键结果图、E3 源头站诊断与极端案例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131" flipH="false" flipV="false">
            <a:off x="812804" y="4997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12800" y="51816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981200" y="523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局限、计划与小结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26200" y="53086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阶段性诚实清单、后续路线图与三句阶段结论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河网感知 GNN 重构稀疏 DOC 观测 · 阶段成果汇报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02 / 18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研究背景：DOC 监测极稀疏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背景与科学问题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9398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溶解有机碳（DOC）是水质与河陆碳循环的关键指标，但现有观测网络远不足以支撑全流域理解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1422400"/>
            <a:ext cx="355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11,948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133600"/>
            <a:ext cx="3632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全流域至少有过 1 次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DOC 采样的站点总数</a:t>
            </a:r>
          </a:p>
        </p:txBody>
      </p:sp>
      <p:cxnSp>
        <p:nvCxnSpPr>
          <p:cNvPr name="Connector 9" id="9"/>
          <p:cNvCxnSpPr/>
          <p:nvPr/>
        </p:nvCxnSpPr>
        <p:spPr>
          <a:xfrm rot="-12190" flipH="false" flipV="false">
            <a:off x="609611" y="2838450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09600" y="3022600"/>
            <a:ext cx="355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≈ 570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3733800"/>
            <a:ext cx="3632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其中具有可用时间序列、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进入本次建模的站点</a:t>
            </a:r>
          </a:p>
        </p:txBody>
      </p:sp>
      <p:cxnSp>
        <p:nvCxnSpPr>
          <p:cNvPr name="Connector 12" id="12"/>
          <p:cNvCxnSpPr/>
          <p:nvPr/>
        </p:nvCxnSpPr>
        <p:spPr>
          <a:xfrm rot="-12190" flipH="false" flipV="false">
            <a:off x="609611" y="4438650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09600" y="4622800"/>
            <a:ext cx="355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8.9%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5334000"/>
            <a:ext cx="3632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（站点 × 月份）格子中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实际有观测的比例</a:t>
            </a:r>
          </a:p>
        </p:txBody>
      </p:sp>
      <p:cxnSp>
        <p:nvCxnSpPr>
          <p:cNvPr name="Connector 15" id="15"/>
          <p:cNvCxnSpPr/>
          <p:nvPr/>
        </p:nvCxnSpPr>
        <p:spPr>
          <a:xfrm rot="5390555" flipH="false" flipV="false">
            <a:off x="2362200" y="3676659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5080000" y="1371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传统路径的三条局限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0" y="18542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站均值 / 欧氏插值（Kriging）</a:t>
            </a: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只看空间邻近，忽略河网连通与水流方向，空间外推弱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0" y="27178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表格特征模型（Random Forest / MLP）</a:t>
            </a: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把站点当作独立点，未利用上下游因果结构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0" y="35814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普通 GCN</a:t>
            </a: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把邻域作无向平均，与河流「有向输运」的物理过程不符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6714" flipH="false" flipV="false">
            <a:off x="5080006" y="4641850"/>
            <a:ext cx="650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5080000" y="4826000"/>
            <a:ext cx="6502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0" y="5181600"/>
            <a:ext cx="65024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观测高度稀疏，而河网本身携带被忽略的强结构先验——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问题是如何把这一先验变成可学习、可检验的模型。</a:t>
            </a:r>
          </a:p>
        </p:txBody>
      </p:sp>
      <p:cxnSp>
        <p:nvCxnSpPr>
          <p:cNvPr name="Connector 23" id="23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来源：USGS NWIS 站点目录（pcode 00681，1972–2026），统计口径见 scripts/fetch_doc_inventory.py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03 / 18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Figure 1 · 科学问题：拓扑能否补全稀疏观测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背景与科学问题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74" r="74" t="0" b="0"/>
          <a:stretch>
            <a:fillRect/>
          </a:stretch>
        </p:blipFill>
        <p:spPr>
          <a:xfrm rot="0" flipH="false" flipV="false">
            <a:off x="609600" y="1066800"/>
            <a:ext cx="7061200" cy="50038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" y="6121400"/>
            <a:ext cx="7061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1｜稀疏观测（a）、欧氏距离插值（b）与拓扑感知 GNN（c）三种范式对比，目标是更可靠的河陆碳通量估算。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77200" y="1168400"/>
            <a:ext cx="3505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对应的三个研究问题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455" flipH="false" flipV="false">
            <a:off x="8077212" y="15938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077200" y="1778000"/>
            <a:ext cx="71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RQ1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788400" y="17526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真实河网拓扑是否优于随机图与无图模型？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2455" flipH="false" flipV="false">
            <a:off x="8077212" y="25336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077200" y="2717800"/>
            <a:ext cx="71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RQ2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788400" y="26924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在 20% / 40% / 60% 重遮罩下，能恢复多少缺失观测？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2455" flipH="false" flipV="false">
            <a:off x="8077212" y="34734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077200" y="3657600"/>
            <a:ext cx="71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RQ3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88400" y="36322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学到的结构能否向未来时段与未见站点外推？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2455" flipH="false" flipV="false">
            <a:off x="8077212" y="45656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077200" y="47752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统一任务形态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77200" y="5105400"/>
            <a:ext cx="3505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站点图上的时空遮罩重构：给定一个（站点，月份）格子之外的信息，预测该格子的月均 DOC（mg/L），DOC 在 log 空间建模。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河网感知 GNN 重构稀疏 DOC 观测 · 阶段成果汇报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04 / 18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核心思路：三类信息汇合为有向传输 GNN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思路与数据基础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212" flipH="false" flipV="false">
            <a:off x="914404" y="2254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1093269" flipH="false" flipV="false">
            <a:off x="11169875" y="2222594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1621114" flipH="false" flipV="false">
            <a:off x="11169875" y="2285906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1430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稀疏 DOC 观测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540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USGS / WQP 月均标签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仅 8.9% 格子有观测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814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940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河网拓扑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6924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NLDI / NHDPlus 有向边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571 站 · 562 条边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198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324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生态身份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308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EPA StreamCat 静态属性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土地 / 气候 / 土壤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582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708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有向传输 GNN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5692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direction + edge gate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+ context encoder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896600" y="2133600"/>
            <a:ext cx="254000" cy="254000"/>
          </a:xfrm>
          <a:prstGeom prst="ellipse">
            <a:avLst/>
          </a:prstGeom>
          <a:solidFill>
            <a:srgbClr val="B07A2E">
              <a:alpha val="100000"/>
            </a:srgbClr>
          </a:solidFill>
          <a:ln cmpd="sng" cap="flat">
            <a:solidFill>
              <a:srgbClr val="B07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1498600"/>
            <a:ext cx="142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补全未测 DOC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058400" y="2540000"/>
            <a:ext cx="1625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缺失（站点，月份）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格子的 DOC 估计</a:t>
            </a:r>
          </a:p>
        </p:txBody>
      </p:sp>
      <p:cxnSp>
        <p:nvCxnSpPr>
          <p:cNvPr name="Connector 24" id="24"/>
          <p:cNvCxnSpPr/>
          <p:nvPr/>
        </p:nvCxnSpPr>
        <p:spPr>
          <a:xfrm rot="-3978" flipH="false" flipV="false">
            <a:off x="609604" y="3625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09600" y="37846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消融设计原则：每一级只加入一个物理 / 生态假设，在同一 benchmark 上对比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4292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92200" y="4267200"/>
            <a:ext cx="4902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拓扑消融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无图 / 度保持随机图 / 真实河网，证明「河网连通」本身有效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" y="5181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92200" y="5156200"/>
            <a:ext cx="4902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方向消融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无向 GCN → 上 / 下游分离权重，证明「水流方向」有效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24600" y="4292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807200" y="42672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传输消融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均匀邻域平均 → 边物理门控，证明「河段属性」有效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24600" y="5181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807200" y="51562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身份消融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仅拓扑 → 追加生态 context，证明空间外推需要「这是什么河」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09600" y="59690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一句话：环境定义节点「是什么」，河网定义信息「怎么传」。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河网感知 GNN 重构稀疏 DOC 观测 · 阶段成果汇报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05 / 18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数据与图构建：公开数据 · 脚本可复现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思路与数据基础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9600" y="1168400"/>
          <a:ext cx="6553200" cy="320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20800"/>
                <a:gridCol w="2184400"/>
                <a:gridCol w="3048000"/>
              </a:tblGrid>
              <a:tr h="419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组件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来源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规模 / 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DOC 标签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USGS NWIS，pcode 00681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1972–2026 月均，33,048 个观测格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站点图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NLDI / NHDPlus 沿河导航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571 站、562 条有向边（上游→下游）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动态特征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水温 / 月均流量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 DOC 对齐的月序列 + 月份正余弦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边物理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NHDPlus VAA 河段属性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河段长、汇水面积、坡度、Strahler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生态身份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EPA StreamCat（按 COMID 直连）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土地利用、气候态、土壤有机碳、基流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连通分量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图算法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最大连通分量 407 节点（E3 采样域）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6662" flipH="false" flipV="false">
            <a:off x="609606" y="1162050"/>
            <a:ext cx="655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6662" flipH="false" flipV="false">
            <a:off x="609606" y="4362450"/>
            <a:ext cx="655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69200" y="1168400"/>
            <a:ext cx="4013200" cy="30099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7569200" y="4241800"/>
            <a:ext cx="4013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图｜抽象站点图（非真实河道折线）：571 节点、562 条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有向边，箭头沿上游→下游，灰色为其它连通分量。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46482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可复现流水线（脚本化，data/ 可全部重新拉取）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5003800"/>
            <a:ext cx="10972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fetch_doc_inventory → build_graph → build_dataset → fetch_streamcat → generate_masks → run_freeze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3978" flipH="false" flipV="false">
            <a:off x="609604" y="5429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5588000"/>
            <a:ext cx="109728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泄漏规则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模型只在 train 格上拟合，测试格 DOC 输入通道始终置零并遮罩；StreamCat 为静态汇水区属性（NLCD 2019、1991–2020 气候态、STATSGO 土壤），不含评测期信息，E2 / E3 保持干净。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数据源：USGS NWIS · Water Quality Portal · NLDI/NHDPlus · EPA StreamCat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06 / 18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Figure 2 · 实验框架总览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思路与数据基础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22" r="22" t="0" b="0"/>
          <a:stretch>
            <a:fillRect/>
          </a:stretch>
        </p:blipFill>
        <p:spPr>
          <a:xfrm rot="0" flipH="false" flipV="false">
            <a:off x="2400300" y="990600"/>
            <a:ext cx="7391400" cy="52324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" y="6273800"/>
            <a:ext cx="109728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2｜多源数据（a）→ 站点图构建（b）→ 基线与 GNN 家族对照（c）→ 四类评测场景（d）→ 重构值、基准对比与碳通量不确定性收窄（e）。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河网感知 GNN 重构稀疏 DOC 观测 · 阶段成果汇报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07 / 18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评测协议：同一套冻结 mask，所有模型公平对比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9600" y="1168400"/>
          <a:ext cx="10972800" cy="2819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8400"/>
                <a:gridCol w="4902200"/>
                <a:gridCol w="4902200"/>
              </a:tblGrid>
              <a:tr h="419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设定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回答的问题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随机遮罩 r = 20% / 40% / 60%，各跑 seed 42 / 43 / 44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拓扑是否有用？重缺失下能恢复多少（RQ1、RQ2）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训练截至 2020-12，测试 2021-01 起全部观测格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纯特征驱动的严格未来预测（无同月 DOC 可依）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 E2a，但未来保留 20% 观测格作为 context（不拟合、不评分）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监测网运行中的缺口填补，主时间实验（RQ3）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在最大连通分量内留出 20% 站点的全部月份，3 个 seed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能否沿河网向未监测站点传播信息（RQ3）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3978" flipH="false" flipV="false">
            <a:off x="609604" y="1162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3978" flipH="false" flipV="false">
            <a:off x="609604" y="3981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42926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基线（均不使用河网结构）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46736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B0 站均值　·　B1 欧氏 Kriging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B2 Random Forest　·　B3 MLP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48400" y="42926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指标与建模口径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46736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RMSE（主）/ MAE / R²，统一在 mg/L 空间报告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DOC 经 log1p 建模、expm1 还原，另报 log 空间变体</a:t>
            </a:r>
          </a:p>
        </p:txBody>
      </p:sp>
      <p:cxnSp>
        <p:nvCxnSpPr>
          <p:cNvPr name="Connector 13" id="13"/>
          <p:cNvCxnSpPr/>
          <p:nvPr/>
        </p:nvCxnSpPr>
        <p:spPr>
          <a:xfrm rot="-3978" flipH="false" flipV="false">
            <a:off x="609604" y="558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5740400"/>
            <a:ext cx="10972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Phase 0 冻结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每个（模型 × mask）只训练一次，逐格预测落盘 parquet；下游分析零重训，任一数字都可回溯到对应 mask 文件、seed 与预测文件。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mask 文件：experiments/masks/；冻结预测：experiments/predictions/ 与 frozen_results/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08 / 18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方法演化阶梯：每一级只加入一个假设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9398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同一 benchmark、同一冻结 mask 下逐级消融；H2X 为当前总体最佳模型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2635" flipH="false" flipV="false">
            <a:off x="26927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-342635" flipH="false" flipV="false">
            <a:off x="49279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9" id="9"/>
          <p:cNvCxnSpPr/>
          <p:nvPr/>
        </p:nvCxnSpPr>
        <p:spPr>
          <a:xfrm rot="-342635" flipH="false" flipV="false">
            <a:off x="71631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0" id="10"/>
          <p:cNvCxnSpPr/>
          <p:nvPr/>
        </p:nvCxnSpPr>
        <p:spPr>
          <a:xfrm rot="-342635" flipH="false" flipV="false">
            <a:off x="93983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989810" flipH="false" flipV="false">
            <a:off x="26877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-1626358" flipH="false" flipV="false">
            <a:off x="26877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989810" flipH="false" flipV="false">
            <a:off x="49229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-1626358" flipH="false" flipV="false">
            <a:off x="49229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989810" flipH="false" flipV="false">
            <a:off x="71581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1626358" flipH="false" flipV="false">
            <a:off x="71581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989810" flipH="false" flipV="false">
            <a:off x="93933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1626358" flipH="false" flipV="false">
            <a:off x="93933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5389389" flipH="false" flipV="false">
            <a:off x="6350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5389389" flipH="false" flipV="false">
            <a:off x="28702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1" id="21"/>
          <p:cNvCxnSpPr/>
          <p:nvPr/>
        </p:nvCxnSpPr>
        <p:spPr>
          <a:xfrm rot="5389389" flipH="false" flipV="false">
            <a:off x="51054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2" id="22"/>
          <p:cNvCxnSpPr/>
          <p:nvPr/>
        </p:nvCxnSpPr>
        <p:spPr>
          <a:xfrm rot="5389389" flipH="false" flipV="false">
            <a:off x="73406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784848"/>
                </a:solidFill>
                <a:latin typeface="Noto Serif SC"/>
                <a:ea typeface="Noto Serif SC"/>
                <a:cs typeface="Noto Serif SC"/>
                <a:sym typeface="Noto Serif SC"/>
              </a:rPr>
              <a:t>G0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普通 GCN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2667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河网作为无向边的消息传递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6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784848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真实拓扑 &gt; 随机图 &gt; 无图（E1 拓扑消融）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8448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784848"/>
                </a:solidFill>
                <a:latin typeface="Noto Serif SC"/>
                <a:ea typeface="Noto Serif SC"/>
                <a:cs typeface="Noto Serif SC"/>
                <a:sym typeface="Noto Serif SC"/>
              </a:rPr>
              <a:t>H1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8448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有向关系 GCN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8448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844800" y="2667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上游 / 下游两套分离权重（R-GCN）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28448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8448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784848"/>
                </a:solidFill>
                <a:latin typeface="Noto Sans SC"/>
                <a:ea typeface="Noto Sans SC"/>
                <a:cs typeface="Noto Sans SC"/>
                <a:sym typeface="Noto Sans SC"/>
              </a:rPr>
              <a:t>方向利于时序重构，E2 上首次超过 Random Forest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0800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H2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0800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传输门控 GCN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0800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080000" y="2667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边物理 gate：跳数、河长、汇水面积、坡度、河级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50800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0800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E2a / E2b 阶段最佳，E1 追平 Random Forest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3152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8C6432"/>
                </a:solidFill>
                <a:latin typeface="Noto Serif SC"/>
                <a:ea typeface="Noto Serif SC"/>
                <a:cs typeface="Noto Serif SC"/>
                <a:sym typeface="Noto Serif SC"/>
              </a:rPr>
              <a:t>H2E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73152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追加生态 context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3152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7315200" y="2667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StreamCat 土地、气候、土壤等静态属性直接拼接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73152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73152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8C6432"/>
                </a:solidFill>
                <a:latin typeface="Noto Sans SC"/>
                <a:ea typeface="Noto Sans SC"/>
                <a:cs typeface="Noto Sans SC"/>
                <a:sym typeface="Noto Sans SC"/>
              </a:rPr>
              <a:t>修复空间外推：E3 平均 R² 0.23 → 0.32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5504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H2X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5504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生态身份编码器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95504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9550400" y="2667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块经 MLP 编码为节点身份嵌入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95504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95504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15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总体最佳：E2b MAE 0.96、R² 0.47；E3 MAE 1.79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6096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966E6E">
              <a:alpha val="100000"/>
            </a:srgbClr>
          </a:solidFill>
          <a:ln cmpd="sng" cap="flat">
            <a:solidFill>
              <a:srgbClr val="966E6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28448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804A4A">
              <a:alpha val="100000"/>
            </a:srgbClr>
          </a:solidFill>
          <a:ln cmpd="sng" cap="flat">
            <a:solidFill>
              <a:srgbClr val="804A4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50800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73152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8C6432">
              <a:alpha val="100000"/>
            </a:srgbClr>
          </a:solidFill>
          <a:ln cmpd="sng" cap="flat">
            <a:solidFill>
              <a:srgbClr val="8C64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95504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B07A2E">
              <a:alpha val="100000"/>
            </a:srgbClr>
          </a:solidFill>
          <a:ln cmpd="sng" cap="flat">
            <a:solidFill>
              <a:srgbClr val="B07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609600" y="56896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过程感知与信息源逐步增强 →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609600" y="60198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主线结论：方向优势在 E1 / E2（已知站的时间重构），生态身份优势在 E3（未见站的空间迁移）。</a:t>
            </a:r>
            <a:endParaRPr lang="en-US" sz="1100"/>
          </a:p>
        </p:txBody>
      </p:sp>
      <p:cxnSp>
        <p:nvCxnSpPr>
          <p:cNvPr name="Connector 60" id="60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1" id="61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数字来源：experiments/results/summary.md（MAE，mg/L；E3 为 3 seed 均值）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09 / 18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Figure 4 · 模型迭代路径与设计动机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读图要点：每一步改了什么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1459" flipH="false" flipV="false">
            <a:off x="609611" y="15938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18034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17780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G0 → H1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无向平均改为上 / 下游分离权重，时序重构改善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26416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26162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H1 → H2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边门控按河段物理量加权，抑制无关传播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34798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90600" y="34544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 → H2E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静态生态属性进入节点，空间外推被修复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43180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90600" y="42926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H2E → H2X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身份嵌入替代直接拼接，全部场景最佳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" y="51562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4｜模型迭代路径与每一步的设计动机，对应论文 Figure 4。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25" b="25"/>
          <a:stretch>
            <a:fillRect/>
          </a:stretch>
        </p:blipFill>
        <p:spPr>
          <a:xfrm rot="0" flipH="false" flipV="false">
            <a:off x="4902200" y="1066800"/>
            <a:ext cx="6680200" cy="47244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cxnSp>
        <p:nvCxnSpPr>
          <p:cNvPr name="Connector 18" id="18"/>
          <p:cNvCxnSpPr/>
          <p:nvPr/>
        </p:nvCxnSpPr>
        <p:spPr>
          <a:xfrm rot="-3978" flipH="false" flipV="false">
            <a:off x="609604" y="5937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9600" y="6019800"/>
            <a:ext cx="10972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1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稳定化修复 H1.5　</a:t>
            </a: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共享权重 + 乘法方向门 + edge dropout 0.2 + weight decay 1e-4 + 99.5 分位 clamp，修复 H1 在 E3 的 R² 负值崩溃。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设计文档：experiments/design_m4.md；实现：src/models/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10 / 18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关键机制：边门控与生态身份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89645" flipH="false" flipV="false">
            <a:off x="3987800" y="3270260"/>
            <a:ext cx="421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09600" y="11684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MECHANISM 1 · H2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1447800"/>
            <a:ext cx="5181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边物理门控：传播强度不再均匀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905000"/>
            <a:ext cx="518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每条有向边（j → i）的门控值由河段物理量决定：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" y="2260600"/>
            <a:ext cx="541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g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ij</m:t>
                      </m:r>
                    </m:sub>
                  </m:sSub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M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L</m:t>
                  </m:r>
                  <m:sSub>
                    <m:e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e</m:t>
                      </m:r>
                    </m:sub>
                  </m:sSub>
                  <m:d>
                    <m:dPr>
                      <m:sepChr m:val=","/>
                    </m:dPr>
                    <m:e>
                      <m:d>
                        <m:dPr>
                          <m:begChr m:val="["/>
                          <m:sepChr m:val=","/>
                          <m:endChr m:val="]"/>
                        </m:dPr>
                        <m:e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" y="2870200"/>
            <a:ext cx="5410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n"/>
                    </m:naryPr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j</m:t>
                      </m:r>
                    </m:sub>
                    <m:sup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⁣</m:t>
                      </m:r>
                    </m:sup>
                    <m:e>
                      <m:sSub>
                        <m:e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g</m:t>
                          </m:r>
                        </m:e>
                        <m:sub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ij</m:t>
                          </m:r>
                        </m:sub>
                      </m:sSub>
                    </m:e>
                  </m:nary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W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j→i</m:t>
                      </m:r>
                    </m:sub>
                  </m:sSub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j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" y="3225800"/>
            <a:ext cx="5410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j 取遍 i 的上游邻域 N(i)，W 按边方向 j→i 选取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425" flipH="false" flipV="false">
            <a:off x="609608" y="3524250"/>
            <a:ext cx="518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3683000"/>
            <a:ext cx="51816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门控输入：跳数、河段长、Strahler 河级、汇水面积、坡度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门控逐边调节，远距离或不相关邻域的消息被抑制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方向权重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W</m:t>
                    </m:r>
                  </m:e>
                  <m:sub>
                    <m:r>
                      <m:rPr>
                        <m:sty m:val="p"/>
                      </m:rP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u</m:t>
                    </m:r>
                    <m:r>
                      <m:rPr>
                        <m:sty m:val="p"/>
                      </m:rP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p</m:t>
                    </m:r>
                  </m:sub>
                </m:sSub>
              </m:oMath>
            </a14:m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W</m:t>
                    </m:r>
                  </m:e>
                  <m:sub>
                    <m:r>
                      <m:rPr>
                        <m:sty m:val="p"/>
                      </m:rP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d</m:t>
                    </m:r>
                    <m:r>
                      <m:rPr>
                        <m:sty m:val="p"/>
                      </m:rP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  <m:r>
                      <m:rPr>
                        <m:sty m:val="p"/>
                      </m:rP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w</m:t>
                    </m:r>
                    <m:r>
                      <m:rPr>
                        <m:sty m:val="p"/>
                      </m:rPr>
                      <a:rPr sz="1300">
                        <a:solidFill>
                          <a:srgbClr val="26221D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n</m:t>
                    </m:r>
                  </m:sub>
                </m:sSub>
              </m:oMath>
            </a14:m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 分离，保留水流方向语义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00800" y="11684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MECHANISM 2 · H2X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00800" y="1447800"/>
            <a:ext cx="5181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生态身份：回答「这是一条什么河」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00800" y="1905000"/>
            <a:ext cx="518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静态汇水区属性经 MLP 编码为节点身份嵌入：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73800" y="2260600"/>
            <a:ext cx="5308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e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M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L</m:t>
                  </m:r>
                  <m:sSub>
                    <m:e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c</m:t>
                      </m:r>
                    </m:sub>
                  </m:sSub>
                  <m:d>
                    <m:dPr>
                      <m:sepChr m:val=","/>
                    </m:dPr>
                    <m:e>
                      <m:d>
                        <m:dPr>
                          <m:begChr m:val="["/>
                          <m:sepChr m:val=","/>
                          <m:endChr m:val="]"/>
                        </m:dPr>
                        <m:e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n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73800" y="2870200"/>
            <a:ext cx="5308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  <m:sup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0</m:t>
                      </m:r>
                    </m:sup>
                  </m:sSubSup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d>
                    <m:dPr>
                      <m:begChr m:val="["/>
                      <m:sepChr m:val=","/>
                      <m:endChr m:val="]"/>
                    </m:dPr>
                    <m:e>
                      <m:sSub>
                        <m:e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x</m:t>
                          </m:r>
                        </m:e>
                        <m:sub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</m:sub>
                      </m:s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‖</m:t>
                      </m:r>
                      <m:sSub>
                        <m:e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e</m:t>
                          </m:r>
                        </m:e>
                        <m:sub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</m:sub>
                      </m:sSub>
                    </m:e>
                  </m:d>
                </m:oMath>
              </m:oMathPara>
            </a14:m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425" flipH="false" flipV="false">
            <a:off x="6400808" y="3524250"/>
            <a:ext cx="518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400800" y="3683000"/>
            <a:ext cx="51816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StreamCat 四组属性：climate / hydro / landcover / soil_topo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身份嵌入与动态节点特征拼接，不随月份变化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未见站点也能凭自身生态属性获得合理初始表征</a:t>
            </a:r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5530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56896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消融证据（E2b MAE）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仅留单组：climate 1.06 · landcover 1.05 · hydro 1.01 · soil_topo 0.99；全量 0.96，互补不冗余。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" y="60198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分工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边门控回答信息「怎么传」，生态身份回答节点「是什么」；前者赢在时间重构，后者赢在空间外推。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实现：src/models/（edge gate、context encoder）；消融：experiments/results/ablation/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11 / 18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主结果：MAE 总表（mg/L，越低越好）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9600" y="1117600"/>
          <a:ext cx="10972800" cy="4038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33600"/>
                <a:gridCol w="1473200"/>
                <a:gridCol w="1473200"/>
                <a:gridCol w="1473200"/>
                <a:gridCol w="1473200"/>
                <a:gridCol w="1473200"/>
                <a:gridCol w="14732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 r20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 r40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 r60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E2a strict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E2b partial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E3 空间留出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B0　站均值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2.59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B1　欧氏 Kriging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2.22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 / 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B2　Random Forest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B3　MLP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G0　无向 river GCN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1.97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H1　有向 R-GCN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1.62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H2　边门控 GCN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H2E　+ 生态拼接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H2X　身份嵌入（ours）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B07A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B07A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3978" flipH="false" flipV="false">
            <a:off x="609604" y="1111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3978" flipH="false" flipV="false">
            <a:off x="609604" y="5149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53086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注：E1 为 seed 42 / 43 / 44 均值；† 为待全量冻结补齐；Kriging 无法使用同月 context，E2a 记 n / a；另报 RMSE、R² 与 log 空间指标。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57912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读法：E1 / E2 上有向图模型追平并小幅超过 Random Forest；E3 空间外推上，只有引入生态身份的 H2E / H2X 明显改善，H2X 总体最佳。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权威表：experiments/frozen_results/benchmark.csv；汇总：experiments/results/summary.md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12 / 18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Figure 3 · 生态 context 改善 DOC 重构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30" r="30" t="0" b="0"/>
          <a:stretch>
            <a:fillRect/>
          </a:stretch>
        </p:blipFill>
        <p:spPr>
          <a:xfrm rot="0" flipH="false" flipV="false">
            <a:off x="609600" y="1143000"/>
            <a:ext cx="7442200" cy="41910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" y="5384800"/>
            <a:ext cx="74422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3｜E2b 与 E3 的 MAE 横向对比，以及 E3 在三个留出 seed 下的 R² 敏感性。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0" y="1168400"/>
            <a:ext cx="3200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读图要点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3641" flipH="false" flipV="false">
            <a:off x="8382013" y="15938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382000" y="1778000"/>
            <a:ext cx="25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10600" y="1752600"/>
            <a:ext cx="2971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E2b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H2X MAE 0.96、R² 0.47，全部模型最优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382000" y="2641600"/>
            <a:ext cx="25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10600" y="2616200"/>
            <a:ext cx="2971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E3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H2X MAE 1.79，为 3 seed 均值（±0.28）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3505200"/>
            <a:ext cx="25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10600" y="3479800"/>
            <a:ext cx="29718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seed 敏感性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E3 R² 在 seed 42 / 43 / 44 分别为 0.33 / 0.08 / 0.53，留出站构成对结果影响较大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3978" flipH="false" flipV="false">
            <a:off x="609604" y="573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09600" y="5867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 context 不是锦上添花：增益主要在最难的空间外推（E3）上兑现，与消融阶梯的事前预测一致；同时 E3 必须报告 seed 区间而非单次数值。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数字来源：experiments/results/summary.md（E3：seed 42 / 43 / 44）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13 / 18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诊断一：E3 误差集中在「源头站」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650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源头站（upstream degree = 0）上的修复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1625600"/>
            <a:ext cx="2133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n = 45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108200"/>
            <a:ext cx="2133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留出集中的源头站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（无任何上游邻居）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94000" y="1625600"/>
            <a:ext cx="215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2.79 → 2.21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94000" y="21082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MAE（mg/L），H2 → H2E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45 站中 32 站改善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130800" y="1625600"/>
            <a:ext cx="198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3.24 → 2.52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130800" y="2108200"/>
            <a:ext cx="198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HUC 10 / 11 高山子集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（n = 29，最难子集）</a:t>
            </a:r>
          </a:p>
        </p:txBody>
      </p:sp>
      <p:cxnSp>
        <p:nvCxnSpPr>
          <p:cNvPr name="Connector 13" id="13"/>
          <p:cNvCxnSpPr/>
          <p:nvPr/>
        </p:nvCxnSpPr>
        <p:spPr>
          <a:xfrm rot="-6714" flipH="false" flipV="false">
            <a:off x="609606" y="2762250"/>
            <a:ext cx="650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2895600"/>
            <a:ext cx="6502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H1 在 E3 seed42 曾出现 R² 为负，根因有两条：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3200400"/>
            <a:ext cx="65024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HUC 10 / 11 高山源头站 DOC 本底高，却没有上游可传消息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旧 clamp 上限取训练集 MAX = 445，高值预测被训练上限削平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不是容量不足、也不是简单分布外，而是「无上游 + 高值」双重困难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" y="4394200"/>
            <a:ext cx="6502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修复与验证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" y="46990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99.5 训练分位 clamp 修复削顶；生态身份让无上游站也有初始表征。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全部 81 个留出站 MAE 2.30 → 2.04，修复后 E3 R² ≈ 0.27 转正。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78" b="78"/>
          <a:stretch>
            <a:fillRect/>
          </a:stretch>
        </p:blipFill>
        <p:spPr>
          <a:xfrm rot="0" flipH="false" flipV="false">
            <a:off x="7543800" y="1168400"/>
            <a:ext cx="4038600" cy="32766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543800" y="4495800"/>
            <a:ext cx="4038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图｜E3 seed42 留出站误差地图：高误差（暖色）集中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于流域北部 / 西部高山源头，干流沿线误差较低。</a:t>
            </a:r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5708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5867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科学含义：空间外推必须同时回答两件事——「信息能连到谁」（河网拓扑）与「自己是一条什么河」（生态身份），缺一不可。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统计：experiments/analysis/headwater_recovery.csv（已复核）；审计：experiments/analysis/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14 / 18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914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诊断二：极端案例 06438000 的系统性欠预测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90006" flipH="false" flipV="false">
            <a:off x="2133600" y="3346459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5390006" flipH="false" flipV="false">
            <a:off x="6045200" y="3346459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1168400"/>
            <a:ext cx="3454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案例档案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600200"/>
            <a:ext cx="345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460 mg/L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2159000"/>
            <a:ext cx="3454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历史最大值，出现在 1980-07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2616200"/>
            <a:ext cx="3454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仅 28 个月有观测，序列极稀疏</a:t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mean 58.2 / median 6.8，均值被少数高值拉起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另有 450（1980-10）、212、160 等尖峰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DOC &gt; 50 共 6 个月，全部落在 1978–1980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1978–1980（n=11）：均值 137.5、中位 53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其余年份（n=17）：均值仅 6.9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21200" y="1168400"/>
            <a:ext cx="3505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排查：常见解释全部无信号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21200" y="1651000"/>
            <a:ext cx="3505200" cy="368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流量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Spearman(DOC, Q) ≈ 0，p = 0.99，与月均流量不相关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上游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上游站 06437000 同期始终为低 DOC，无传导来源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协变量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pH、电导率、水温均无解释力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时间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高值只存在于 1970s 末局部时段，之后再未出现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推断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月均尺度特征无法编码这段局部历史高 DOC regime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32800" y="1168400"/>
            <a:ext cx="3149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结论与处理方式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32800" y="1651000"/>
            <a:ext cx="3149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欠预测源于输入信息缺失，而非模型容量不足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论文表述为「可解释的系统性欠预测」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不追求逐点拟合这类极端值</a:t>
            </a:r>
          </a:p>
        </p:txBody>
      </p:sp>
      <p:cxnSp>
        <p:nvCxnSpPr>
          <p:cNvPr name="Connector 16" id="16"/>
          <p:cNvCxnSpPr/>
          <p:nvPr/>
        </p:nvCxnSpPr>
        <p:spPr>
          <a:xfrm rot="-13861" flipH="false" flipV="false">
            <a:off x="8432813" y="40322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432800" y="4191000"/>
            <a:ext cx="31496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改为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预测区间等不确定性量化，并对历史 regime 加标记，避免均值指标掩盖结构性误差。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3978" flipH="false" flipV="false">
            <a:off x="609604" y="5708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9600" y="5867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方法论含义：先审计误差结构、再决定是否改模型——把「模型学不会」与「输入信息里本来就没有」严格区分开。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6527800"/>
            <a:ext cx="711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审计：experiments/analysis/extreme/P0_label_audit_06438000.md、P1_covariate_check_06438000.md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15 / 18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阶段性局限：一份诚实清单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局限、计划与小结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　全量冻结未完成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03600" y="11684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H2X 的部分 E1 格（r40 / r60）与 E2a 仍在跑，表中以 † 标注；当前结论只基于已冻结格，不提前外推。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3978" flipH="false" flipV="false">
            <a:off x="609604" y="1847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20320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2　时序模块 H3 未上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03600" y="20320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GRU / 月度隐状态尚未进入结果表，跨月记忆对时序重构（E2）的增益仍待验证，目前结论限于空间消息传递。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3978" flipH="false" flipV="false">
            <a:off x="609604" y="2711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09600" y="28956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3　1970s 极端 regime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03600" y="28956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如 06438000 的局部历史高值，月均尺度特征无法编码，模型呈可解释的系统性欠预测，需以不确定性量化处理。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3978" flipH="false" flipV="false">
            <a:off x="609604" y="3575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09600" y="37592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4　仅单一流域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03600" y="37592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目前只覆盖密西西比流域；跨气候带、跨地貌的流域迁移能力尚未检验，生态身份编码器的可迁移性是开放问题。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3978" flipH="false" flipV="false">
            <a:off x="609604" y="4438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09600" y="4622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5　采样非均匀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03600" y="4622800"/>
            <a:ext cx="81788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站点空间分布不均，E3 结论依赖最大连通分量 407 站与具体 seed（R² 区间 0.08–0.53）；生态组消融的完整结果尚未全部并入冻结主表。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558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5765800"/>
            <a:ext cx="1097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原则：局限不遮掩——未完成项在结果表与论文中显式标注，不以部分结果充当全量结论；下一页给出对应解决计划。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河网感知 GNN 重构稀疏 DOC 观测 · 阶段成果汇报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16 / 18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后续计划：四个阶段，局限逐条销项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局限、计划与小结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318" flipH="false" flipV="false">
            <a:off x="1016004" y="1898650"/>
            <a:ext cx="1010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778000" y="1803400"/>
            <a:ext cx="203200" cy="203200"/>
          </a:xfrm>
          <a:prstGeom prst="ellipse">
            <a:avLst/>
          </a:prstGeom>
          <a:solidFill>
            <a:srgbClr val="B07A2E">
              <a:alpha val="100000"/>
            </a:srgbClr>
          </a:solidFill>
          <a:ln cmpd="sng" cap="flat">
            <a:solidFill>
              <a:srgbClr val="B07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1803400"/>
            <a:ext cx="203200" cy="203200"/>
          </a:xfrm>
          <a:prstGeom prst="ellipse">
            <a:avLst/>
          </a:prstGeom>
          <a:solidFill>
            <a:srgbClr val="8C6432">
              <a:alpha val="100000"/>
            </a:srgbClr>
          </a:solidFill>
          <a:ln cmpd="sng" cap="flat">
            <a:solidFill>
              <a:srgbClr val="8C64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0" y="1803400"/>
            <a:ext cx="203200" cy="203200"/>
          </a:xfrm>
          <a:prstGeom prst="ellipse">
            <a:avLst/>
          </a:prstGeom>
          <a:solidFill>
            <a:srgbClr val="804A4A">
              <a:alpha val="100000"/>
            </a:srgbClr>
          </a:solidFill>
          <a:ln cmpd="sng" cap="flat">
            <a:solidFill>
              <a:srgbClr val="804A4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0" y="18034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114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P0　本周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15494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冻结收口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22352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跑完 H2X 剩余冻结格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更新 benchmark 主表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定稿 Fig 1–4 主图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03600" y="114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8C6432"/>
                </a:solidFill>
                <a:latin typeface="Noto Serif SC"/>
                <a:ea typeface="Noto Serif SC"/>
                <a:cs typeface="Noto Serif SC"/>
                <a:sym typeface="Noto Serif SC"/>
              </a:rPr>
              <a:t>P1　近期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03600" y="15494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论文图与证据链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03600" y="22352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方法阶梯示意图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E3 源头站对比地图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生态组贡献与极端案例附图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97600" y="114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804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P2　方法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97600" y="15494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模型与不确定性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97600" y="22352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H3：GRU 月度隐状态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完整生态组 ablation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预测区间 / 不确定度量化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91600" y="1143000"/>
            <a:ext cx="2590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P3　扩展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91600" y="1549400"/>
            <a:ext cx="2590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外流域与新尺度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91600" y="2235200"/>
            <a:ext cx="25908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第二流域复现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跨流域迁移实验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事件尺度协变量接入</a:t>
            </a:r>
          </a:p>
        </p:txBody>
      </p:sp>
      <p:cxnSp>
        <p:nvCxnSpPr>
          <p:cNvPr name="Connector 23" id="23"/>
          <p:cNvCxnSpPr/>
          <p:nvPr/>
        </p:nvCxnSpPr>
        <p:spPr>
          <a:xfrm rot="-3978" flipH="false" flipV="false">
            <a:off x="609604" y="4514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09600" y="46990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写作主线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5054600"/>
            <a:ext cx="10972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以「诊断驱动的消融阶梯」组织论文：拓扑 → 方向 → 门控 → 身份，每一级增益都可归因；E3 源头站与极端案例作为机制诊断章节，而非附录边角料。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5740400"/>
            <a:ext cx="1097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近期里程碑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组会本周：冻结表与四张主图齐套；投稿前：H3 结果、第二流域探索性实验与不确定性区间。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计划文档：experiments/design_m4.md、docs/ROADMAP.md；代码仓库 D:\river_graph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17 / 18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阶段小结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局限、计划与小结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89889" flipH="false" flipV="false">
            <a:off x="3937000" y="33718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3978" flipH="false" flipV="false">
            <a:off x="609604" y="3371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1320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25600" y="13716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问题：稀疏不等于无解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25600" y="17780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8.9% 的（站点 × 月份）格子有观测；河网拓扑与汇水区生态身份是两类此前被忽略、且可显式利用的先验。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24600" y="1320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40600" y="1371600"/>
            <a:ext cx="4241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方法：四级消融阶梯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40600" y="1778000"/>
            <a:ext cx="4241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G0 → H2X：拓扑、方向、边物理门控、生态身份逐级加入，同一冻结 benchmark 下每一步增益都可归因。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3606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25600" y="36576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结果：两条优势线清晰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25600" y="40640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E2b MAE 0.96 / R² 0.47，E3 MAE 1.79；源头站 2.79 → 2.21。方向赢在时间重构，生态身份赢在空间外推。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24600" y="3606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40600" y="3657600"/>
            <a:ext cx="4241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状态与下一步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40600" y="4064000"/>
            <a:ext cx="4241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主结论可汇报；全量冻结与 Fig 1–4 进行中；H3 时序、第二流域与不确定性量化为下一步，代码与预测全程可复现。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1459" flipH="false" flipV="false">
            <a:off x="4191011" y="57340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3556000" y="58674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谢谢，欢迎批评指正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代码仓库：D:\river_graph（src / experiments / frozen_results 可复现全部数字）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18 / 18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