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notesSlides/notesSlide1.xml" Type="http://schemas.openxmlformats.org/officeDocument/2006/relationships/notesSlide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43" Target="notesSlides/notesSlide17.xml" Type="http://schemas.openxmlformats.org/officeDocument/2006/relationships/notesSlide"/><Relationship Id="rId44" Target="notesSlides/notesSlide18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各位老师同学好，这次阶段汇报介绍用河网感知图神经网络补全稀疏水质观测的工作。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核心问题是流域里溶解有机碳监测只有不到一成的时空格子有观测，我们尝试让河网结构本身成为补全信号。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目前方法的逐级对照已经走完，全部结果固定、可复核，四张主图正在收尾。汇报分五个部分：背景、思路与数据、评测设计与方法、结果与诊断、局限与计划。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汇报分五个部分。前两部分建立问题和数据：为什么水质观测稀疏、我们如何把河网变成图。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第三部分是评测设计和方法的逐级对照，第四部分是当前结果和两个深入诊断，最后给出局限、后续安排和小结。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全程数字都来自已经固定的实验，每一格结果都可以回头复核。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先看问题的量级：流域内近一万两千个站点测过溶解有机碳，但真正有可用序列的只有约 570 个，时空格子的观测覆盖率只有 8.9%。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三类传统方法各有盲区：地理插值忽略河网，单站模型忽略站点间的因果，普通图网络又把河流当成不分方向的、丢掉了流向。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所以核心矛盾是：数据虽然稀疏，但河网结构本身是一份免费的强先验，本研究要回答它到底能帮我们补回多少信息。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图 1 把科学问题画成三种思路：面板 a 是稀疏观测本身，面板 b 是地理距离插值，只看离得近不近、忽略河道连通；面板 c 是我们的路线，沿着河道把信息一站站传下去。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关键追问是：河网结构是否提供了距离插值给不出的信息。它分解为右侧三个问题，分别是真假河网对照、不同挖空比例、向未来和新站点推广。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所有实验都统一成同一道题：在站点网络上挖掉一部分月份再补回来，预测目标是月均溶解有机碳浓度。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核心思路是三类信息汇合：稀疏的浓度观测、河网结构、每个汇水区的生态身份，送进沿河道有方向传递的模型，输出那些没测过的格子的浓度。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为了让每一步都站得住脚，我们逐级对照：每一级只多加一个假设，河网、方向、传递强弱、生态身份各有一组对照，全部用同一套固定考题。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这页是全篇主线，后面的方法演化和结果表都按这条阶梯展开。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数据全部来自公开来源：浓度观测取自美国地质调查局公开监测库，1972 到 2026 年的月均值，共 33048 个观测格。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站点网络沿全国河网逐段追踪构建：571 个站、562 条从上游通向下游的有方向连接，其中 407 个站连成主网络，也是 E3 整站留出考题的范围。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整条流程都可以从公开数据重新跑一遍；这里特别强调防作弊规则：要考的格子浓度永远先藏起来，生态属性都是不含考试期信息的静态量，保证时间题和空间题都不会提前泄题。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图 2 是整套研究流程的框架，从左到右五个部分就是从数据到结论的全过程。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先是多源数据：月度浓度观测、站点信息、环境变量和河网结构；再把河流系统表示成一张有方向的网，每个站点带着观测和环境信息，连接顺着水流方向；然后是传统方法与河网模型的逐级对照。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接着是四类考题 E1、E2a、E2b、E3；最后是产出：补全的浓度、各方法对比，以及碳通量估计区间的收窄。下一页展开考题设计。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评测分四类考题。E1 随机挖空，回答河网有没有用、缺得越多还能不能补；E2a 是严格的未来预测，未来的浓度一个都看不到；E2b 更贴近现实，监测网照常运行、保留两成同月观测作为已知条件。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E3 是空间推广：把整座站点的全部月份藏起来，检验信息能否顺着河道传到没监测的地方。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四个不用河网的对照方法、统一的误差指标，加上开工前就固定全部考题的做法，保证后面每一张表都是同一把尺子下的公平对比。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这是全文的方法主线。G0 是最基础的、不分方向的图网络，只证明真实河网比打乱的假河网和不用河网都强。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H1 把上游和下游的传递权重分开，第一次在时间考题 E2 上超过随机森林；H2 用河段物理量逐边调节，信息传递不再一视同仁；H2E 直接把生态属性并进节点，把 E3 的决定系数从 0.23 拉到 0.32。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H2X 先把生态属性整合成一段「河流身份」再进入模型，是当前总体最佳的模型。注意每一级都只改一个因素，所以每一步带来的提升都能说清来源。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图 4 把迭代路径画出来，左侧是读图顺序：每一级都有明确的物理或生态动机，而不是堆参数。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中间还有一个没画在主阶梯上的稳定化版本 H1.5：H1 曾在 E3 出现决定系数为负的崩溃，根因是参数过多叠加极端值，我们通过共享权重、顺流方向聚合、随机搁置两成边、约束权重幅度，并对预测上下限做分位截断，修复了它。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这个细节说明模型增益来自设计而非调参运气。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这页讲两个关键机制。左边是 H2 的逐边调节：每条边传递信息的强弱由跳数、河段长度、河流分级、汇水面积和坡度算出，不再是不分远近的平均；消息只汇总上游邻站，上下游权重仍然分开。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右边是 H2X 的生态身份：静态的汇水区属性先整合成一段「河流身份」，再和逐月变化的特征结合，这样完全没监测过的站点也有合理的初始判断。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底部逐项对照显示四组生态属性各管一块、合起来最好；两个机制分工明确，一个管信息怎么传，一个管这是条什么河。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这是全部模型在六类考题下的平均绝对误差总表，单位 mg/L，越低越好。深色行是对照方法，金色高亮的 H2X 是我们的最终模型。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三个要点：第一，不分方向的基础图网络还不如随机森林，说明光把站点连起来不够；第二，H1 靠区分上下游在 E2a 首次超过随机森林；第三，也是最关键的，向新站点推广的 E3 上，只有加了生态身份的 H2E 和 H2X 误差明显下降，H2X 降到 1.79。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H2X 的部分 E1 实验还在补齐，用剑号标出，不夸大已经完成的范围。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 3 同时看 E2b 和 E3。在 E2b 缺口填补场景下，H2X 的平均绝对误差是 0.96、决定系数 0.47，是所有模型里最好的。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E3 藏起整站的场景下，H2X 三次平均的误差是 1.79，但三次的决定系数从 0.08 到 0.53 波动很大，说明藏起哪些站比随机性本身更影响结论，所以我们坚持报告区间而不是单次值。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结论是生态信息的提升主要在向新站点推广时兑现，这和逐级对照前的设计预期一致。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把 E3 的误差画到地图上，发现高误差集中在源头站，也就是没有任何上游来水的站。45 个源头站从 H2 到 H2E，平均绝对误差从 2.79 降到 2.21，32 个站变好；最难的高山源头子集（29 个站）从 3.24 降到 2.52。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回溯发现 H1 当年在 E3 崩溃不是模型能力问题，而是高山源头站既没有上游传来的信息、浓度本底又高，预测还被训练集最大值人为削平。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修复后结论很清楚：向没监测过的地方推广，要同时知道信息能从谁那里传来、自己是条什么河。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第二个诊断是单个极端站 06438000。它只有 28 个月有观测，最大值 460，但中位数只有 6.8，六个浓度超过 50 的月份全部集中在 1978 到 1980 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我们逐一排查了常见解释：和流量的相关系数几乎为零，上游站一直是低值，pH、电导率、水温都没信号。结论是以月为单位的输入里本来就没有这段历史高值时段的信息。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所以这不是把模型做大能解决的，论文里把它表述为可解释的系统性低估，改用不确定性刻画来处理，而不是硬追每个点的精度。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这一页只讲局限，共五条。全部实验还没跑完，H2X 部分结果用剑号标出；跨月记忆模块还没上结果；1970 年代末那一小段异常高值，以月为单位的输入承载不了。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目前只有密西西比一个流域，站点采样也不均匀，E3 的结果受藏起哪些站影响较大，生态属性的逐项对照还没全部并入总表。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我们的原则是显式标注这些缺口，下一页逐条对应到计划。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计划分四档。P0 本周收口：把 H2X 剩余实验补齐、更新主结果对照表、定稿四张主图。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P1 做论文图和证据链，P2 上带月度记忆的时序模块、完成生态属性逐项对照和预测区间，P3 扩展到第二流域和跨流域迁移。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写作上以问题驱动的逐级对照为主线，每一步的提升都说得清来源，两个诊断案例进入正文的机制章节。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用四句话收束。第一，问题层面，只有 8.9% 的格子有观测，但河网结构和生态信息是两类可以利用的先验。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第二，方法层面，G0 到 H2X 的四级对照让每一步提升都说得清来源。第三，结果层面，方向强在时间补全、生态身份强在向新站点推广，E2b 0.96、E3 1.79、源头站明显修复。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第四，状态诚实：主结论已经可以汇报，剩余实验和四张主图在收尾，时序模块和第二流域是下一步，每个数字都可以回头复核。谢谢大家。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1473200"/>
            <a:ext cx="584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阶段成果汇报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0551" flipH="false" flipV="false">
            <a:off x="711247" y="1898650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11200" y="2133600"/>
            <a:ext cx="6248400" cy="167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1666"/>
              </a:lnSpc>
              <a:defRPr/>
            </a:pPr>
            <a:r>
              <a:rPr lang="en-US" b="true" i="false" strike="noStrike" u="none" sz="35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河网感知图神经网络</a:t>
            </a:r>
            <a:endParaRPr lang="en-US" sz="1100"/>
          </a:p>
          <a:p>
            <a:pPr algn="l" marL="0" indent="0">
              <a:lnSpc>
                <a:spcPct val="111666"/>
              </a:lnSpc>
            </a:pPr>
            <a:r>
              <a:rPr lang="en-US" b="true" i="false" strike="noStrike" u="none" sz="35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重构密西西比河流域稀疏的水质观测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11200" y="3962400"/>
            <a:ext cx="5969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tru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让河网的连通结构与汇水区生态信息，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tru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补全流域里那些没有被监测到的水质数据</a:t>
            </a:r>
          </a:p>
        </p:txBody>
      </p:sp>
      <p:cxnSp>
        <p:nvCxnSpPr>
          <p:cNvPr name="Connector 6" id="6"/>
          <p:cNvCxnSpPr/>
          <p:nvPr/>
        </p:nvCxnSpPr>
        <p:spPr>
          <a:xfrm rot="-7707" flipH="false" flipV="false">
            <a:off x="711207" y="5073650"/>
            <a:ext cx="566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11200" y="5232400"/>
            <a:ext cx="596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方法逐级对照已走完 · 全部结果固定可复核，四张主图整理中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" y="56134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 · 组会阶段汇报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62800" y="1498600"/>
            <a:ext cx="4419600" cy="33147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7162800" y="4902200"/>
            <a:ext cx="4419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图｜密西西比河流域 571 个溶解有机碳监测站点，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其中 407 个站通过河道互相连通；数据来自美国地质调查局与全国河网数据库。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1200" y="6350000"/>
            <a:ext cx="5969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全部使用公开数据，分析过程可重复，每个数字都可以回头复核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635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汇报路线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本次路线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3208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981200" y="1371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研究背景与科学问题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26200" y="1447800"/>
            <a:ext cx="5054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水质监测为何稀疏，河网先验对应哪三个研究问题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131" flipH="false" flipV="false">
            <a:off x="812804" y="2101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12800" y="2286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981200" y="23368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核心思路与数据基础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26200" y="2413000"/>
            <a:ext cx="5054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三类信息如何汇合，流域站点网络与公开数据怎样拼起来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131" flipH="false" flipV="false">
            <a:off x="812804" y="3067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12800" y="32512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981200" y="3302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评测协议与方法阶梯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26200" y="3378200"/>
            <a:ext cx="5054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四类考题，以及从基础图网络到最终模型的逐级对照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4131" flipH="false" flipV="false">
            <a:off x="812804" y="4032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12800" y="42164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981200" y="42672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阶段结果与诊断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26200" y="4343400"/>
            <a:ext cx="5054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总体结果、关键结果图，以及源头站与极端站点两个深入诊断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131" flipH="false" flipV="false">
            <a:off x="812804" y="4997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12800" y="51816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981200" y="5232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局限、计划与小结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26200" y="5308600"/>
            <a:ext cx="5054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阶段性诚实清单、后续路线图与三句阶段结论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利用河网结构补全稀疏水质观测 · 阶段成果汇报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02 / 18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研究背景：溶解有机碳（DOC）监测极稀疏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01 · 背景与科学问题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939800"/>
            <a:ext cx="10972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溶解有机碳（DOC）是水质与河陆碳循环的关键指标，但现有观测网络远不足以支撑全流域理解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1422400"/>
            <a:ext cx="355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11,948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2133600"/>
            <a:ext cx="3632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3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全流域至少有过 1 次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溶解有机碳的站点总数</a:t>
            </a:r>
          </a:p>
        </p:txBody>
      </p:sp>
      <p:cxnSp>
        <p:nvCxnSpPr>
          <p:cNvPr name="Connector 9" id="9"/>
          <p:cNvCxnSpPr/>
          <p:nvPr/>
        </p:nvCxnSpPr>
        <p:spPr>
          <a:xfrm rot="-12190" flipH="false" flipV="false">
            <a:off x="609611" y="2838450"/>
            <a:ext cx="358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09600" y="3022600"/>
            <a:ext cx="355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≈ 570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3733800"/>
            <a:ext cx="3632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3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其中有连续观测记录、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真正能用于建模的站点</a:t>
            </a:r>
          </a:p>
        </p:txBody>
      </p:sp>
      <p:cxnSp>
        <p:nvCxnSpPr>
          <p:cNvPr name="Connector 12" id="12"/>
          <p:cNvCxnSpPr/>
          <p:nvPr/>
        </p:nvCxnSpPr>
        <p:spPr>
          <a:xfrm rot="-12190" flipH="false" flipV="false">
            <a:off x="609611" y="4438650"/>
            <a:ext cx="358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09600" y="4622800"/>
            <a:ext cx="355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8.9%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" y="5334000"/>
            <a:ext cx="3632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3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把每个站的每个月算作一格，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真正有观测的格子比例</a:t>
            </a:r>
          </a:p>
        </p:txBody>
      </p:sp>
      <p:cxnSp>
        <p:nvCxnSpPr>
          <p:cNvPr name="Connector 15" id="15"/>
          <p:cNvCxnSpPr/>
          <p:nvPr/>
        </p:nvCxnSpPr>
        <p:spPr>
          <a:xfrm rot="5390555" flipH="false" flipV="false">
            <a:off x="2362200" y="3676659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5080000" y="1371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传统路径的三条局限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0" y="1854200"/>
            <a:ext cx="6502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站点均值 / 地理距离插值（克里金）</a:t>
            </a:r>
            <a:r>
              <a:rPr lang="en-US" b="false" i="false" strike="noStrike" u="none" sz="13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只看空间上离得近不近，忽略河网连通与水流方向，推不到没监测的地方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0" y="2717800"/>
            <a:ext cx="6502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只看单站特征的模型（随机森林等）</a:t>
            </a:r>
            <a:r>
              <a:rPr lang="en-US" b="false" i="false" strike="noStrike" u="none" sz="13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把每个站点当成互不相干的点，用不上上下游之间的因果关系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0" y="3581400"/>
            <a:ext cx="6502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普通图神经网络</a:t>
            </a:r>
            <a:r>
              <a:rPr lang="en-US" b="false" i="false" strike="noStrike" u="none" sz="13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把上下游一视同仁地平均，与河水只往下游流的物理过程不符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6714" flipH="false" flipV="false">
            <a:off x="5080006" y="4641850"/>
            <a:ext cx="650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5080000" y="4826000"/>
            <a:ext cx="6502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核心矛盾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080000" y="5181600"/>
            <a:ext cx="65024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观测高度稀疏，而河网本身携带被忽略的强结构先验——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问题是如何把这一先验变成可学习、可检验的模型。</a:t>
            </a:r>
          </a:p>
        </p:txBody>
      </p:sp>
      <p:cxnSp>
        <p:nvCxnSpPr>
          <p:cNvPr name="Connector 23" id="23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数据来源：美国地质调查局公开监测目录（1972–2026 年）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03 / 18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1 · 科学问题：河网结构能否补全稀疏观测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01 · 背景与科学问题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74" r="74" t="0" b="0"/>
          <a:stretch>
            <a:fillRect/>
          </a:stretch>
        </p:blipFill>
        <p:spPr>
          <a:xfrm rot="0" flipH="false" flipV="false">
            <a:off x="609600" y="1066800"/>
            <a:ext cx="7061200" cy="50038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609600" y="6121400"/>
            <a:ext cx="7061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 1｜稀疏观测、地理距离插值与河网感知模型三种思路对比，目标是把河流向陆地输送的碳量估得更可靠。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77200" y="1168400"/>
            <a:ext cx="3505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对应的三个研究问题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2455" flipH="false" flipV="false">
            <a:off x="8077212" y="1593850"/>
            <a:ext cx="350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077200" y="1778000"/>
            <a:ext cx="711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问题一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788400" y="1752600"/>
            <a:ext cx="279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用真实河网，是否比打乱的假河网、或干脆不用河网更好？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2455" flipH="false" flipV="false">
            <a:off x="8077212" y="2533650"/>
            <a:ext cx="350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8077200" y="2717800"/>
            <a:ext cx="711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问题二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788400" y="2692400"/>
            <a:ext cx="279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如果挖掉两成、四成、六成观测，分别能补回多少？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2455" flipH="false" flipV="false">
            <a:off x="8077212" y="3473450"/>
            <a:ext cx="350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077200" y="3657600"/>
            <a:ext cx="711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问题三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788400" y="3632200"/>
            <a:ext cx="279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学到的规律能否用到未来月份和没监测过的站点？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2455" flipH="false" flipV="false">
            <a:off x="8077212" y="4565650"/>
            <a:ext cx="350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077200" y="47752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统一任务形态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77200" y="5105400"/>
            <a:ext cx="35052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统一成一道题：挖掉某个站点某个月的浓度，用其余全部信息把它补回来；浓度单位为 mg/L，建模前先对右偏的浓度做对数变换。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利用河网结构补全稀疏水质观测 · 阶段成果汇报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04 / 18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核心思路：三类信息汇合，沿河道有方向地传递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思路与数据基础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-4212" flipH="false" flipV="false">
            <a:off x="914404" y="2254250"/>
            <a:ext cx="1036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7" id="7"/>
          <p:cNvCxnSpPr/>
          <p:nvPr/>
        </p:nvCxnSpPr>
        <p:spPr>
          <a:xfrm rot="1093269" flipH="false" flipV="false">
            <a:off x="11169875" y="2222594"/>
            <a:ext cx="16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-1621114" flipH="false" flipV="false">
            <a:off x="11169875" y="2285906"/>
            <a:ext cx="16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143000" y="2159000"/>
            <a:ext cx="203200" cy="203200"/>
          </a:xfrm>
          <a:prstGeom prst="ellipse">
            <a:avLst/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5600" y="1498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稀疏水质观测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54000" y="2540000"/>
            <a:ext cx="1981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公开监测库月均浓度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仅 8.9% 格子有观测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81400" y="2159000"/>
            <a:ext cx="203200" cy="203200"/>
          </a:xfrm>
          <a:prstGeom prst="ellipse">
            <a:avLst/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794000" y="1498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河网结构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692400" y="2540000"/>
            <a:ext cx="1981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全国河网勾绘的河道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571 站 · 562 条边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19800" y="2159000"/>
            <a:ext cx="203200" cy="203200"/>
          </a:xfrm>
          <a:prstGeom prst="ellipse">
            <a:avLst/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232400" y="1498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生态身份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130800" y="2540000"/>
            <a:ext cx="1981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汇水区静态生态属性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土地 / 气候 / 土壤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58200" y="2159000"/>
            <a:ext cx="203200" cy="203200"/>
          </a:xfrm>
          <a:prstGeom prst="ellipse">
            <a:avLst/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70800" y="1498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沿河有向传递模型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569200" y="2540000"/>
            <a:ext cx="1981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顺水流方向传递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逐边调节、识别河型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896600" y="2133600"/>
            <a:ext cx="254000" cy="254000"/>
          </a:xfrm>
          <a:prstGeom prst="ellipse">
            <a:avLst/>
          </a:prstGeom>
          <a:solidFill>
            <a:srgbClr val="B07A2E">
              <a:alpha val="100000"/>
            </a:srgbClr>
          </a:solidFill>
          <a:ln cmpd="sng" cap="flat">
            <a:solidFill>
              <a:srgbClr val="B07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0" y="1498600"/>
            <a:ext cx="1422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补全未测浓度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058400" y="2540000"/>
            <a:ext cx="1625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缺失的（站点，月份）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浓度估计值</a:t>
            </a:r>
          </a:p>
        </p:txBody>
      </p:sp>
      <p:cxnSp>
        <p:nvCxnSpPr>
          <p:cNvPr name="Connector 24" id="24"/>
          <p:cNvCxnSpPr/>
          <p:nvPr/>
        </p:nvCxnSpPr>
        <p:spPr>
          <a:xfrm rot="-3978" flipH="false" flipV="false">
            <a:off x="609604" y="3625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609600" y="3784600"/>
            <a:ext cx="1097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对照设计原则：每一级只多加一个物理或生态假设，用同一套考题比较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9600" y="4292600"/>
            <a:ext cx="43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92200" y="4267200"/>
            <a:ext cx="4902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河网对照</a:t>
            </a: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不用河网 / 打乱的假河网 / 真实河网，证明「河网连通」本身有用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09600" y="5181600"/>
            <a:ext cx="43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92200" y="5156200"/>
            <a:ext cx="4902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方向对照</a:t>
            </a: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不分方向 → 上下游分开处理，证明「水流方向」有用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324600" y="4292600"/>
            <a:ext cx="43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807200" y="4267200"/>
            <a:ext cx="4775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强弱对照</a:t>
            </a: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邻域一视同仁 → 按河段物理量逐边调节，证明「河段属性」有用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324600" y="5181600"/>
            <a:ext cx="43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4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807200" y="5156200"/>
            <a:ext cx="4775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身份对照</a:t>
            </a:r>
            <a:r>
              <a:rPr lang="en-US" b="false" i="false" strike="noStrike" u="none" sz="13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只有河网 → 再加入汇水区生态信息，证明推广到没监测过的地方要先知道「这是什么河」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09600" y="5969000"/>
            <a:ext cx="1097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一句话：环境定义节点「是什么」，河网定义信息「怎么传」。</a:t>
            </a:r>
            <a:endParaRPr lang="en-US" sz="1100"/>
          </a:p>
        </p:txBody>
      </p:sp>
      <p:cxnSp>
        <p:nvCxnSpPr>
          <p:cNvPr name="Connector 35" id="35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利用河网结构补全稀疏水质观测 · 阶段成果汇报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05 / 18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数据与河网构建：全部来自公开数据，过程可重复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思路与数据基础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09600" y="1168400"/>
          <a:ext cx="6553200" cy="3200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20800"/>
                <a:gridCol w="2184400"/>
                <a:gridCol w="3048000"/>
              </a:tblGrid>
              <a:tr h="4191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组件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来源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规模 / 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浓度观测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美国地质调查局公开监测库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1972–2026 月均，共 33,048 个观测格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站点图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全国河网数据库沿河追踪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571 站、562 条有方向的连接（上游→下游）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动态特征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水温 / 月均流量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与浓度对齐的月度序列，加月份周期特征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边物理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全国河网河段属性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河段长度、汇水面积、坡度、河流分级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生态身份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汇水区生态属性数据集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土地利用、气候态、土壤有机碳、基流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连通网络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图算法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互相连通的主网络 407 站（E3 考题范围）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6662" flipH="false" flipV="false">
            <a:off x="609606" y="1162050"/>
            <a:ext cx="655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E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-6662" flipH="false" flipV="false">
            <a:off x="609606" y="4362450"/>
            <a:ext cx="655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E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69200" y="1168400"/>
            <a:ext cx="4013200" cy="30099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7569200" y="4241800"/>
            <a:ext cx="4013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图｜站点连接示意图（非真实河道走向）：571 个站、562 条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有方向的连接，箭头从上游指向下游，灰色为不与主网络相连的站。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46482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全过程可重复：每一步都能从公开数据重新跑一遍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" y="5003800"/>
            <a:ext cx="10972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站点清点 → 河网连边 → 特征对齐 → 生态属性匹配 → 考题生成 → 统一训练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3978" flipH="false" flipV="false">
            <a:off x="609604" y="5429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09600" y="5588000"/>
            <a:ext cx="109728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防作弊规则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只在「已知」的格子上学习，要考的格子浓度一律先藏起来、绝不作为输入；汇水区生态属性都是固定不变的静态量（土地利用、多年平均气候、土壤），不含考试期间的信息，时间题和空间题都不会提前泄题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数据来源：美国地质调查局公开监测库、全国河网数据库、汇水区生态属性数据集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06 / 18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2 · 整套研究框架一览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思路与数据基础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22" r="22" t="0" b="0"/>
          <a:stretch>
            <a:fillRect/>
          </a:stretch>
        </p:blipFill>
        <p:spPr>
          <a:xfrm rot="0" flipH="false" flipV="false">
            <a:off x="2400300" y="990600"/>
            <a:ext cx="7391400" cy="52324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609600" y="6273800"/>
            <a:ext cx="109728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 2｜多源数据 → 站点网络构建 → 传统方法与河网模型逐级对照 → 四类考题 → 补全结果、方法对比与碳通量估计的不确定性收窄。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利用河网结构补全稀疏水质观测 · 阶段成果汇报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07 / 18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评测设计：同一套挖空方案，所有模型公平对比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评测协议与方法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09600" y="1168400"/>
          <a:ext cx="10972800" cy="2819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68400"/>
                <a:gridCol w="4902200"/>
                <a:gridCol w="4902200"/>
              </a:tblGrid>
              <a:tr h="419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设定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回答的问题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随机挖掉 20% / 40% / 60% 的格子，每种各重复三次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河网有没有用？缺得越多还能补回多少（问题一、问题二）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E2a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训练截至 2020-12，测试 2021-01 起全部观测格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严格的未来预测：未来月份的浓度一个都看不到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E2b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同 E2a，但未来保留两成观测作为已知条件（不参与学习和打分）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监测网照常运行时填补缺口，是主要的时间考题（问题三）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在主网络内藏起两成站点的全部月份，重复三次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25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6221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信息能否顺着河道传到没监测的站点（问题三）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3978" flipH="false" flipV="false">
            <a:off x="609604" y="1162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E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-3978" flipH="false" flipV="false">
            <a:off x="609604" y="3981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E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9600" y="42926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基线（均不使用河网结构）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" y="46736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B0 站点均值　·　B1 地理距离插值（克里金）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B2 随机森林　·　B3 全连接网络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48400" y="42926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指标与建模口径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48400" y="46736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误差指标：均方根误差（主）、平均绝对误差、决定系数 R²，统一按 mg/L 报告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浓度先做对数变换再建模、结果换算回原浓度，并同时报告对数口径作对照</a:t>
            </a:r>
          </a:p>
        </p:txBody>
      </p:sp>
      <p:cxnSp>
        <p:nvCxnSpPr>
          <p:cNvPr name="Connector 13" id="13"/>
          <p:cNvCxnSpPr/>
          <p:nvPr/>
        </p:nvCxnSpPr>
        <p:spPr>
          <a:xfrm rot="-3978" flipH="false" flipV="false">
            <a:off x="609604" y="5581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09600" y="5740400"/>
            <a:ext cx="109728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B07A2E"/>
                </a:solidFill>
                <a:latin typeface="Noto Sans SC"/>
                <a:ea typeface="Noto Sans SC"/>
                <a:cs typeface="Noto Sans SC"/>
                <a:sym typeface="Noto Sans SC"/>
              </a:rPr>
              <a:t>开工前先固定全部考题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每个模型在每种挖空方案下只训练一次，每一格的预测都原样留存，后续分析不再重新训练，任何一个数字都能追溯到当时的考题和预测。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所有模型使用完全相同的挖空方案与评分口径，结果可逐格复核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08 / 18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方法演化阶梯：每一级只加入一个假设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评测协议与方法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939800"/>
            <a:ext cx="10972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同一套考题、同一套挖空方案下逐级对照；H2X 为当前总体最佳模型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42635" flipH="false" flipV="false">
            <a:off x="2692717" y="14668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8" id="8"/>
          <p:cNvCxnSpPr/>
          <p:nvPr/>
        </p:nvCxnSpPr>
        <p:spPr>
          <a:xfrm rot="-342635" flipH="false" flipV="false">
            <a:off x="4927917" y="14668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9" id="9"/>
          <p:cNvCxnSpPr/>
          <p:nvPr/>
        </p:nvCxnSpPr>
        <p:spPr>
          <a:xfrm rot="-342635" flipH="false" flipV="false">
            <a:off x="7163117" y="14668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0" id="10"/>
          <p:cNvCxnSpPr/>
          <p:nvPr/>
        </p:nvCxnSpPr>
        <p:spPr>
          <a:xfrm rot="-342635" flipH="false" flipV="false">
            <a:off x="9398317" y="14668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1" id="11"/>
          <p:cNvCxnSpPr/>
          <p:nvPr/>
        </p:nvCxnSpPr>
        <p:spPr>
          <a:xfrm rot="989810" flipH="false" flipV="false">
            <a:off x="2687782" y="1441559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2" id="12"/>
          <p:cNvCxnSpPr/>
          <p:nvPr/>
        </p:nvCxnSpPr>
        <p:spPr>
          <a:xfrm rot="-1626358" flipH="false" flipV="false">
            <a:off x="2687782" y="1492141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3" id="13"/>
          <p:cNvCxnSpPr/>
          <p:nvPr/>
        </p:nvCxnSpPr>
        <p:spPr>
          <a:xfrm rot="989810" flipH="false" flipV="false">
            <a:off x="4922982" y="1441559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4" id="14"/>
          <p:cNvCxnSpPr/>
          <p:nvPr/>
        </p:nvCxnSpPr>
        <p:spPr>
          <a:xfrm rot="-1626358" flipH="false" flipV="false">
            <a:off x="4922982" y="1492141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5" id="15"/>
          <p:cNvCxnSpPr/>
          <p:nvPr/>
        </p:nvCxnSpPr>
        <p:spPr>
          <a:xfrm rot="989810" flipH="false" flipV="false">
            <a:off x="7158182" y="1441559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6" id="16"/>
          <p:cNvCxnSpPr/>
          <p:nvPr/>
        </p:nvCxnSpPr>
        <p:spPr>
          <a:xfrm rot="-1626358" flipH="false" flipV="false">
            <a:off x="7158182" y="1492141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7" id="17"/>
          <p:cNvCxnSpPr/>
          <p:nvPr/>
        </p:nvCxnSpPr>
        <p:spPr>
          <a:xfrm rot="989810" flipH="false" flipV="false">
            <a:off x="9393382" y="1441559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-1626358" flipH="false" flipV="false">
            <a:off x="9393382" y="1492141"/>
            <a:ext cx="13678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9" id="19"/>
          <p:cNvCxnSpPr/>
          <p:nvPr/>
        </p:nvCxnSpPr>
        <p:spPr>
          <a:xfrm rot="5389389" flipH="false" flipV="false">
            <a:off x="635000" y="3321060"/>
            <a:ext cx="411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0" id="20"/>
          <p:cNvCxnSpPr/>
          <p:nvPr/>
        </p:nvCxnSpPr>
        <p:spPr>
          <a:xfrm rot="5389389" flipH="false" flipV="false">
            <a:off x="2870200" y="3321060"/>
            <a:ext cx="411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1" id="21"/>
          <p:cNvCxnSpPr/>
          <p:nvPr/>
        </p:nvCxnSpPr>
        <p:spPr>
          <a:xfrm rot="5389389" flipH="false" flipV="false">
            <a:off x="5105400" y="3321060"/>
            <a:ext cx="411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2" id="22"/>
          <p:cNvCxnSpPr/>
          <p:nvPr/>
        </p:nvCxnSpPr>
        <p:spPr>
          <a:xfrm rot="5389389" flipH="false" flipV="false">
            <a:off x="7340600" y="3321060"/>
            <a:ext cx="411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09600" y="1270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784848"/>
                </a:solidFill>
                <a:latin typeface="Noto Serif SC"/>
                <a:ea typeface="Noto Serif SC"/>
                <a:cs typeface="Noto Serif SC"/>
                <a:sym typeface="Noto Serif SC"/>
              </a:rPr>
              <a:t>G0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09600" y="17780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基础图网络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09600" y="24384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加入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9600" y="2667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先把河网当成不分方向的连接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09600" y="36322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发现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09600" y="38608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784848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真实河网 &gt; 打乱的假河网 &gt; 不用河网（E1 河网对照）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844800" y="1270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784848"/>
                </a:solidFill>
                <a:latin typeface="Noto Serif SC"/>
                <a:ea typeface="Noto Serif SC"/>
                <a:cs typeface="Noto Serif SC"/>
                <a:sym typeface="Noto Serif SC"/>
              </a:rPr>
              <a:t>H1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2844800" y="17780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区分上下游的图网络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2844800" y="24384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加入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2844800" y="2667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上游、下游各用一套传递权重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2844800" y="36322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发现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2844800" y="38608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784848"/>
                </a:solidFill>
                <a:latin typeface="Noto Sans SC"/>
                <a:ea typeface="Noto Sans SC"/>
                <a:cs typeface="Noto Sans SC"/>
                <a:sym typeface="Noto Sans SC"/>
              </a:rPr>
              <a:t>方向让时间补全更准，E2 上首次超过随机森林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080000" y="1270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H2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080000" y="17780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逐边调节的图网络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080000" y="24384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加入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5080000" y="26670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每条边按河段物理量调节：跳数、河长、汇水面积、坡度、河级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5080000" y="36322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发现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5080000" y="38608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E2a / E2b 阶段最佳，E1 追平随机森林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7315200" y="1270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8C6432"/>
                </a:solidFill>
                <a:latin typeface="Noto Serif SC"/>
                <a:ea typeface="Noto Serif SC"/>
                <a:cs typeface="Noto Serif SC"/>
                <a:sym typeface="Noto Serif SC"/>
              </a:rPr>
              <a:t>H2E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7315200" y="17780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加入生态信息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7315200" y="24384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加入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7315200" y="26670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土地、气候、土壤等静态生态属性直接并入节点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7315200" y="36322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发现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7315200" y="38608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8C6432"/>
                </a:solidFill>
                <a:latin typeface="Noto Sans SC"/>
                <a:ea typeface="Noto Sans SC"/>
                <a:cs typeface="Noto Sans SC"/>
                <a:sym typeface="Noto Sans SC"/>
              </a:rPr>
              <a:t>修复向新站点推广：E3 平均 R² 0.23 → 0.32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9550400" y="1270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H2X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9550400" y="17780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河流身份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9550400" y="24384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加入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9550400" y="26670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生态属性先整合成一段「河流身份」再进入节点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9550400" y="36322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发现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9550400" y="38608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150">
                <a:solidFill>
                  <a:srgbClr val="B07A2E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总体最佳：E2b MAE 0.96、R² 0.47；E3 MAE 1.79</a:t>
            </a:r>
            <a:endParaRPr lang="en-US" sz="1100"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609600" y="5537200"/>
            <a:ext cx="2032000" cy="63500"/>
          </a:xfrm>
          <a:prstGeom prst="roundRect">
            <a:avLst>
              <a:gd name="adj" fmla="val 0"/>
            </a:avLst>
          </a:prstGeom>
          <a:solidFill>
            <a:srgbClr val="966E6E">
              <a:alpha val="100000"/>
            </a:srgbClr>
          </a:solidFill>
          <a:ln cmpd="sng" cap="flat">
            <a:solidFill>
              <a:srgbClr val="966E6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2844800" y="5537200"/>
            <a:ext cx="2032000" cy="63500"/>
          </a:xfrm>
          <a:prstGeom prst="roundRect">
            <a:avLst>
              <a:gd name="adj" fmla="val 0"/>
            </a:avLst>
          </a:prstGeom>
          <a:solidFill>
            <a:srgbClr val="804A4A">
              <a:alpha val="100000"/>
            </a:srgbClr>
          </a:solidFill>
          <a:ln cmpd="sng" cap="flat">
            <a:solidFill>
              <a:srgbClr val="804A4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5080000" y="5537200"/>
            <a:ext cx="2032000" cy="635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7315200" y="5537200"/>
            <a:ext cx="2032000" cy="63500"/>
          </a:xfrm>
          <a:prstGeom prst="roundRect">
            <a:avLst>
              <a:gd name="adj" fmla="val 0"/>
            </a:avLst>
          </a:prstGeom>
          <a:solidFill>
            <a:srgbClr val="8C6432">
              <a:alpha val="100000"/>
            </a:srgbClr>
          </a:solidFill>
          <a:ln cmpd="sng" cap="flat">
            <a:solidFill>
              <a:srgbClr val="8C64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9550400" y="5537200"/>
            <a:ext cx="2032000" cy="63500"/>
          </a:xfrm>
          <a:prstGeom prst="roundRect">
            <a:avLst>
              <a:gd name="adj" fmla="val 0"/>
            </a:avLst>
          </a:prstGeom>
          <a:solidFill>
            <a:srgbClr val="B07A2E">
              <a:alpha val="100000"/>
            </a:srgbClr>
          </a:solidFill>
          <a:ln cmpd="sng" cap="flat">
            <a:solidFill>
              <a:srgbClr val="B07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609600" y="56896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过程感知与信息源逐步增强 →</a:t>
            </a:r>
            <a:endParaRPr lang="en-US" sz="1100"/>
          </a:p>
        </p:txBody>
      </p:sp>
      <p:sp>
        <p:nvSpPr>
          <p:cNvPr name="AutoShape 59" id="59"/>
          <p:cNvSpPr/>
          <p:nvPr/>
        </p:nvSpPr>
        <p:spPr>
          <a:xfrm rot="0" flipH="false" flipV="false">
            <a:off x="609600" y="6019800"/>
            <a:ext cx="1097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主线结论：方向的优势在 E1 / E2（已知站点的时间补全），生态身份的优势在 E3（新站点的空间推广）。</a:t>
            </a:r>
            <a:endParaRPr lang="en-US" sz="1100"/>
          </a:p>
        </p:txBody>
      </p:sp>
      <p:cxnSp>
        <p:nvCxnSpPr>
          <p:cNvPr name="Connector 60" id="60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1" id="61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数字来源：统一实验结果汇总（平均绝对误差 MAE，mg/L；E3 为三次重复均值）</a:t>
            </a:r>
            <a:endParaRPr lang="en-US" sz="1100"/>
          </a:p>
        </p:txBody>
      </p:sp>
      <p:sp>
        <p:nvSpPr>
          <p:cNvPr name="AutoShape 62" id="62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09 / 18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4 · 模型迭代路径与每一步的动机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评测协议与方法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11684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读图要点：每一步改了什么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1459" flipH="false" flipV="false">
            <a:off x="609611" y="15938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09600" y="1803400"/>
            <a:ext cx="33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90600" y="1778000"/>
            <a:ext cx="3429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G0 → H1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不分方向的平均改为上下游分开传递，时间补全变准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" y="2641600"/>
            <a:ext cx="33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0600" y="2616200"/>
            <a:ext cx="3429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H1 → H2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每条边按河段物理量决定传递强弱，压住无关信息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" y="3479800"/>
            <a:ext cx="33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90600" y="3454400"/>
            <a:ext cx="3429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H2 → H2E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静态生态属性进入站点，向新站点推广的能力被修复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" y="4318000"/>
            <a:ext cx="33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90600" y="4292600"/>
            <a:ext cx="3429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H2E → H2X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　用「河流身份」整合替代直接拼接，全部考题最佳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" y="5156200"/>
            <a:ext cx="381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 4｜模型迭代路径与每一步的设计动机。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25" b="25"/>
          <a:stretch>
            <a:fillRect/>
          </a:stretch>
        </p:blipFill>
        <p:spPr>
          <a:xfrm rot="0" flipH="false" flipV="false">
            <a:off x="4902200" y="1066800"/>
            <a:ext cx="6680200" cy="47244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cxnSp>
        <p:nvCxnSpPr>
          <p:cNvPr name="Connector 18" id="18"/>
          <p:cNvCxnSpPr/>
          <p:nvPr/>
        </p:nvCxnSpPr>
        <p:spPr>
          <a:xfrm rot="-3978" flipH="false" flipV="false">
            <a:off x="609604" y="5937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09600" y="6019800"/>
            <a:ext cx="10972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1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稳定化修复 H1.5　</a:t>
            </a:r>
            <a:r>
              <a:rPr lang="en-US" b="false" i="false" strike="noStrike" u="none" sz="11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共享权重、顺流方向聚合，配合随机搁置两成边、约束权重幅度、预测上下限做 99.5% 分位截断，消除了 H1 在 E3 上结果为负的崩溃。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每一步改动都有明确的物理或生态动机，而非调参所得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10 / 18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关键机制：逐边调节与生态身份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评测协议与方法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5389645" flipH="false" flipV="false">
            <a:off x="3987800" y="3270260"/>
            <a:ext cx="421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09600" y="11684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B07A2E"/>
                </a:solidFill>
                <a:latin typeface="Noto Sans SC"/>
                <a:ea typeface="Noto Sans SC"/>
                <a:cs typeface="Noto Sans SC"/>
                <a:sym typeface="Noto Sans SC"/>
              </a:rPr>
              <a:t>机制一 · H2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1447800"/>
            <a:ext cx="51816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逐边调节：传递强弱不再一刀切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1905000"/>
            <a:ext cx="5181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每条有方向的连接（j → i）的调节强度由河段物理量决定：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3400" y="2260600"/>
            <a:ext cx="5410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g</m:t>
                      </m:r>
                    </m:e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ij</m:t>
                      </m:r>
                    </m:sub>
                  </m:sSub>
                  <m: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r>
                    <m:rPr>
                      <m:sty m:val="p"/>
                    </m:rP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M</m:t>
                  </m:r>
                  <m:r>
                    <m:rPr>
                      <m:sty m:val="p"/>
                    </m:rP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L</m:t>
                  </m:r>
                  <m:sSub>
                    <m:e>
                      <m:r>
                        <m:rPr>
                          <m:sty m:val="p"/>
                        </m:rP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</m:t>
                      </m:r>
                    </m:e>
                    <m:sub>
                      <m:r>
                        <m:rPr>
                          <m:sty m:val="p"/>
                        </m:rP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e</m:t>
                      </m:r>
                    </m:sub>
                  </m:sSub>
                  <m:d>
                    <m:dPr>
                      <m:sepChr m:val=","/>
                    </m:dPr>
                    <m:e>
                      <m:d>
                        <m:dPr>
                          <m:begChr m:val="["/>
                          <m:sepChr m:val=","/>
                          <m:endChr m:val="]"/>
                        </m:dPr>
                        <m:e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p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e>
                  </m:d>
                </m:oMath>
              </m:oMathPara>
            </a14:m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33400" y="2870200"/>
            <a:ext cx="5410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m</m:t>
                      </m:r>
                    </m:e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</m:t>
                      </m:r>
                    </m:sub>
                  </m:sSub>
                  <m: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nary>
                    <m:naryPr>
                      <m:chr m:val="∑"/>
                      <m:limLoc m:val="undOvr"/>
                      <m:grow m:val="1"/>
                      <m:subHide m:val="off"/>
                      <m:supHide m:val="on"/>
                    </m:naryPr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j</m:t>
                      </m:r>
                    </m:sub>
                    <m:sup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⁣</m:t>
                      </m:r>
                    </m:sup>
                    <m:e>
                      <m:sSub>
                        <m:e>
                          <m: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g</m:t>
                          </m:r>
                        </m:e>
                        <m:sub>
                          <m: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ij</m:t>
                          </m:r>
                        </m:sub>
                      </m:sSub>
                    </m:e>
                  </m:nary>
                  <m:sSub>
                    <m:e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W</m:t>
                      </m:r>
                    </m:e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j→i</m:t>
                      </m:r>
                    </m:sub>
                  </m:sSub>
                  <m:sSub>
                    <m:e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h</m:t>
                      </m:r>
                    </m:e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j</m:t>
                      </m:r>
                    </m:sub>
                  </m:sSub>
                </m:oMath>
              </m:oMathPara>
            </a14:m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33400" y="3225800"/>
            <a:ext cx="5410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j 取遍 i 的上游邻域 N(i)，W 按边方向 j→i 选取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8425" flipH="false" flipV="false">
            <a:off x="609608" y="3524250"/>
            <a:ext cx="518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09600" y="3683000"/>
            <a:ext cx="51816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调节依据：跳数、河段长度、河流分级、汇水面积、坡度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逐边调节，距离远或不相关邻站的信息被压低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上下游权重分开，保留「水往低处流」的方向含义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00800" y="11684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B07A2E"/>
                </a:solidFill>
                <a:latin typeface="Noto Sans SC"/>
                <a:ea typeface="Noto Sans SC"/>
                <a:cs typeface="Noto Sans SC"/>
                <a:sym typeface="Noto Sans SC"/>
              </a:rPr>
              <a:t>机制二 · H2X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00800" y="1447800"/>
            <a:ext cx="51816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生态身份：回答「这是一条什么河」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00800" y="1905000"/>
            <a:ext cx="5181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把静态的汇水区属性整合成一段「河流身份」：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73800" y="2260600"/>
            <a:ext cx="5308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e</m:t>
                      </m:r>
                    </m:e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</m:t>
                      </m:r>
                    </m:sub>
                  </m:sSub>
                  <m: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r>
                    <m:rPr>
                      <m:sty m:val="p"/>
                    </m:rP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M</m:t>
                  </m:r>
                  <m:r>
                    <m:rPr>
                      <m:sty m:val="p"/>
                    </m:rP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L</m:t>
                  </m:r>
                  <m:sSub>
                    <m:e>
                      <m:r>
                        <m:rPr>
                          <m:sty m:val="p"/>
                        </m:rP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</m:t>
                      </m:r>
                    </m:e>
                    <m:sub>
                      <m:r>
                        <m:rPr>
                          <m:sty m:val="p"/>
                        </m:rP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c</m:t>
                      </m:r>
                    </m:sub>
                  </m:sSub>
                  <m:d>
                    <m:dPr>
                      <m:sepChr m:val=","/>
                    </m:dPr>
                    <m:e>
                      <m:d>
                        <m:dPr>
                          <m:begChr m:val="["/>
                          <m:sepChr m:val=","/>
                          <m:endChr m:val="]"/>
                        </m:dPr>
                        <m:e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n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i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i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1400">
                                  <a:solidFill>
                                    <a:srgbClr val="1F2329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e>
                  </m:d>
                </m:oMath>
              </m:oMathPara>
            </a14:m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73800" y="2870200"/>
            <a:ext cx="5308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h</m:t>
                      </m:r>
                    </m:e>
                    <m: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</m:t>
                      </m:r>
                    </m:sub>
                    <m:sup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0</m:t>
                      </m:r>
                    </m:sup>
                  </m:sSubSup>
                  <m:r>
                    <a:rPr sz="1400">
                      <a:solidFill>
                        <a:srgbClr val="1F2329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d>
                    <m:dPr>
                      <m:begChr m:val="["/>
                      <m:sepChr m:val=","/>
                      <m:endChr m:val="]"/>
                    </m:dPr>
                    <m:e>
                      <m:sSub>
                        <m:e>
                          <m: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x</m:t>
                          </m:r>
                        </m:e>
                        <m:sub>
                          <m: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i</m:t>
                          </m:r>
                        </m:sub>
                      </m:sSub>
                      <m:r>
                        <a:rPr sz="1400">
                          <a:solidFill>
                            <a:srgbClr val="1F2329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‖</m:t>
                      </m:r>
                      <m:sSub>
                        <m:e>
                          <m: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e</m:t>
                          </m:r>
                        </m:e>
                        <m:sub>
                          <m:r>
                            <a:rPr sz="1400">
                              <a:solidFill>
                                <a:srgbClr val="1F2329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i</m:t>
                          </m:r>
                        </m:sub>
                      </m:sSub>
                    </m:e>
                  </m:d>
                </m:oMath>
              </m:oMathPara>
            </a14:m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8425" flipH="false" flipV="false">
            <a:off x="6400808" y="3524250"/>
            <a:ext cx="518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400800" y="3683000"/>
            <a:ext cx="51816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四组生态属性：气候、水文、土地覆盖、土壤地形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河流身份与逐月变化的特征结合，本身不随月份改变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没监测过的站点，也能凭自身生态属性得到合理的初始判断</a:t>
            </a:r>
          </a:p>
        </p:txBody>
      </p:sp>
      <p:cxnSp>
        <p:nvCxnSpPr>
          <p:cNvPr name="Connector 22" id="22"/>
          <p:cNvCxnSpPr/>
          <p:nvPr/>
        </p:nvCxnSpPr>
        <p:spPr>
          <a:xfrm rot="-3978" flipH="false" flipV="false">
            <a:off x="609604" y="5530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09600" y="5689600"/>
            <a:ext cx="10972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逐项对照（E2b 平均绝对误差）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只留一组：气候 1.06 · 土地 1.05 · 水文 1.01 · 土壤地形 0.99；四组全用 0.96，各管一块、互不重复。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09600" y="6019800"/>
            <a:ext cx="10972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分工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逐边调节回答信息「怎么传」，生态身份回答站点「是什么」；前者强在时间补全，后者强在向新站点推广。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逐项去掉单个机制即可量化其贡献（消融对照）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11 / 18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主结果：平均绝对误差总表（mg/L，越低越好）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04 · 阶段结果与诊断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09600" y="1117600"/>
          <a:ext cx="10972800" cy="4038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33600"/>
                <a:gridCol w="1473200"/>
                <a:gridCol w="1473200"/>
                <a:gridCol w="1473200"/>
                <a:gridCol w="1473200"/>
                <a:gridCol w="1473200"/>
                <a:gridCol w="1473200"/>
              </a:tblGrid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E1 挖空20%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E1 挖空40%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E1 挖空60%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E2a 严格未来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E2b 带两成已知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50">
                          <a:solidFill>
                            <a:srgbClr val="F5F1E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E3 整站留出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E2A2A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B0　站点均值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2.59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B1　地理插值（克里金）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2.15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2.17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2.22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 / 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2.05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B2　随机森林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2.07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B3　全连接网络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1.87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1.86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1.88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1.31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1.29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2.02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G0　基础图网络（不分方向）</a:t>
                      </a:r>
                      <a:endParaRPr lang="en-US" sz="1100"/>
                    </a:p>
                  </a:txBody>
                  <a:tcPr anchor="ctr" anchorCtr="false" marL="101600" marR="1016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1.74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1.77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1.87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1.38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1.97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H1　区分上下游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1.62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2.03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H2　逐边调节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H2E　加入生态信息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1.81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9DE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H2X　河流身份（本研究）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5E2A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40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B07A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0.96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B07A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1.79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4D2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3978" flipH="false" flipV="false">
            <a:off x="609604" y="1111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E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-3978" flipH="false" flipV="false">
            <a:off x="609604" y="5149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5E2A2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9600" y="5308600"/>
            <a:ext cx="10972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注：E1 为三次重复的均值；† 表示该格实验尚在补齐；地理插值无法使用同月已知信息，E2a 记为 n / a；另报告均方根误差、决定系数与对数口径指标。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" y="57912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怎么读：E1 / E2 上，河网模型追平并小幅超过随机森林；向新站点推广的 E3 上，只有加入生态身份的 H2E / H2X 明显变好，H2X 总体最佳。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全部数字来自统一固定的实验结果，可逐格复核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12 / 18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3 · 生态信息改善浓度补全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04 · 阶段结果与诊断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30" r="30" t="0" b="0"/>
          <a:stretch>
            <a:fillRect/>
          </a:stretch>
        </p:blipFill>
        <p:spPr>
          <a:xfrm rot="0" flipH="false" flipV="false">
            <a:off x="609600" y="1143000"/>
            <a:ext cx="7442200" cy="41910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609600" y="5384800"/>
            <a:ext cx="74422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 3｜E2b 与 E3 的平均绝对误差横向对比，以及 E3 在三种藏站方案下决定系数的波动。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382000" y="1168400"/>
            <a:ext cx="3200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读图要点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3641" flipH="false" flipV="false">
            <a:off x="8382013" y="1593850"/>
            <a:ext cx="320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382000" y="1778000"/>
            <a:ext cx="25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·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610600" y="1752600"/>
            <a:ext cx="29718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E2b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H2X 平均绝对误差 0.96、决定系数 0.47，全部模型最优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382000" y="2641600"/>
            <a:ext cx="25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·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610600" y="2616200"/>
            <a:ext cx="29718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E3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H2X 平均绝对误差 1.79，为三次重复均值（波动 ±0.28）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3505200"/>
            <a:ext cx="25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·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610600" y="3479800"/>
            <a:ext cx="29718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结果的波动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E3 决定系数在三种藏站方案下分别为 0.33 / 0.08 / 0.53，藏起哪些站对结果影响较大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3978" flipH="false" flipV="false">
            <a:off x="609604" y="573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09600" y="58674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生态信息不是锦上添花：它的提升主要在最难的「推广到没监测过的站点」（E3）上体现，和逐级对照前的预判一致；同时 E3 必须报告三次结果的区间，而不是只报一次。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数字来源：统一实验结果汇总（E3 为三次重复）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13 / 18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889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诊断一：E3 误差集中在「源头站」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04 · 阶段结果与诊断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1168400"/>
            <a:ext cx="6502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源头站（没有任何上游来水）上的修复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" y="1625600"/>
            <a:ext cx="2133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n = 45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2108200"/>
            <a:ext cx="2133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被藏起的源头站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（没有任何上游邻站）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794000" y="1625600"/>
            <a:ext cx="215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2.79 → 2.21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794000" y="21082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平均绝对误差（mg/L）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H2 → H2E，32/45 站变好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130800" y="1625600"/>
            <a:ext cx="1981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3.24 → 2.52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130800" y="2108200"/>
            <a:ext cx="198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高山源头子集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（29 个站，最难的一组）</a:t>
            </a:r>
          </a:p>
        </p:txBody>
      </p:sp>
      <p:cxnSp>
        <p:nvCxnSpPr>
          <p:cNvPr name="Connector 13" id="13"/>
          <p:cNvCxnSpPr/>
          <p:nvPr/>
        </p:nvCxnSpPr>
        <p:spPr>
          <a:xfrm rot="-6714" flipH="false" flipV="false">
            <a:off x="609606" y="2762250"/>
            <a:ext cx="650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09600" y="2895600"/>
            <a:ext cx="6502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H1 在 E3 的第一种藏站方案下曾出现决定系数为负，根因在于：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" y="3200400"/>
            <a:ext cx="65024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高山源头站浓度本底偏高，却没有上游可以传来信息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旧做法把预测上限卡在训练集最大值 445，高值被人为削平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既不是模型能力不够，也不只是没见过的数值，而是「没有上游 + 数值偏高」的双重困难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" y="4394200"/>
            <a:ext cx="6502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5E2A2A"/>
                </a:solidFill>
                <a:latin typeface="Noto Sans SC"/>
                <a:ea typeface="Noto Sans SC"/>
                <a:cs typeface="Noto Sans SC"/>
                <a:sym typeface="Noto Sans SC"/>
              </a:rPr>
              <a:t>修复与验证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9600" y="4699000"/>
            <a:ext cx="6502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改用 99.5% 训练分位截断修复削顶；生态身份让没有上游的站也有合理的初始判断。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全部 81 个被藏起的站，平均绝对误差 2.30 → 2.04，修复后 E3 决定系数约 0.27、由负转正。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rcRect l="0" r="0" t="78" b="78"/>
          <a:stretch>
            <a:fillRect/>
          </a:stretch>
        </p:blipFill>
        <p:spPr>
          <a:xfrm rot="0" flipH="false" flipV="false">
            <a:off x="7543800" y="1168400"/>
            <a:ext cx="4038600" cy="3276600"/>
          </a:xfrm>
          <a:prstGeom prst="rect">
            <a:avLst/>
          </a:prstGeom>
          <a:noFill/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7543800" y="4495800"/>
            <a:ext cx="4038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图｜E3 第一种藏站方案的误差地图：高误差（暖色）集中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在流域北部、西部的高山源头，干流沿线误差较低。</a:t>
            </a:r>
          </a:p>
        </p:txBody>
      </p:sp>
      <p:cxnSp>
        <p:nvCxnSpPr>
          <p:cNvPr name="Connector 20" id="20"/>
          <p:cNvCxnSpPr/>
          <p:nvPr/>
        </p:nvCxnSpPr>
        <p:spPr>
          <a:xfrm rot="-3978" flipH="false" flipV="false">
            <a:off x="609604" y="5708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09600" y="58674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科学含义：向没监测过的地方推广，必须同时回答两件事——「信息能从谁那里传来」（河网结构）与「自己是一条什么河」（生态身份），缺一不可。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统计结果已逐站复核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14 / 18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914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诊断二：极端案例 06438000 的系统性欠预测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04 · 阶段结果与诊断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5390006" flipH="false" flipV="false">
            <a:off x="2133600" y="3346459"/>
            <a:ext cx="436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5390006" flipH="false" flipV="false">
            <a:off x="6045200" y="3346459"/>
            <a:ext cx="436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09600" y="1168400"/>
            <a:ext cx="3454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案例档案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1600200"/>
            <a:ext cx="3454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460 mg/L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" y="2159000"/>
            <a:ext cx="3454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历史最大值，出现在 1980-07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2616200"/>
            <a:ext cx="34544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仅 28 个月有观测，序列极稀疏</a:t>
            </a:r>
            <a:endParaRPr lang="en-US" sz="1100"/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均值 58.2 / 中位数 6.8，均值被少数高值拉起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另有 450（1980-10）、212、160 等尖峰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浓度超过 50 的共 6 个月，全部落在 1978–1980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1978–1980（11 个月）：均值 137.5、中位数 53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其余年份（17 个月）：均值仅 6.9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21200" y="1168400"/>
            <a:ext cx="3505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排查：常见解释全部无信号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21200" y="1651000"/>
            <a:ext cx="3505200" cy="368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流量　</a:t>
            </a: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与流量的秩相关系数几乎为零（p = 0.99），统计上无关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上游　</a:t>
            </a: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上游站 06437000 同期一直是低浓度，没有可传导的来源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其他指标　</a:t>
            </a: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pH、电导率、水温均无解释力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时间　</a:t>
            </a: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高值只出现在 1970 年代末一小段时间，之后再没出现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推断　</a:t>
            </a: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以月为单位的输入里，本来就没有这段历史高值时段的信息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432800" y="1168400"/>
            <a:ext cx="3149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结论与处理方式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432800" y="1651000"/>
            <a:ext cx="31496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欠预测源于输入信息缺失，而非模型容量不足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论文表述为「可解释的系统性欠预测」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不追求逐点拟合这类极端值</a:t>
            </a:r>
          </a:p>
        </p:txBody>
      </p:sp>
      <p:cxnSp>
        <p:nvCxnSpPr>
          <p:cNvPr name="Connector 16" id="16"/>
          <p:cNvCxnSpPr/>
          <p:nvPr/>
        </p:nvCxnSpPr>
        <p:spPr>
          <a:xfrm rot="-13861" flipH="false" flipV="false">
            <a:off x="8432813" y="40322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432800" y="4191000"/>
            <a:ext cx="31496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200">
                <a:solidFill>
                  <a:srgbClr val="B07A2E"/>
                </a:solidFill>
                <a:latin typeface="Noto Sans SC"/>
                <a:ea typeface="Noto Sans SC"/>
                <a:cs typeface="Noto Sans SC"/>
                <a:sym typeface="Noto Sans SC"/>
              </a:rPr>
              <a:t>改为　</a:t>
            </a: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给出预测区间等不确定性刻画，并对那段历史高值时段单独标记，避免平均指标掩盖这种结构性偏差。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3978" flipH="false" flipV="false">
            <a:off x="609604" y="5708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09600" y="58674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方法论含义：先审计误差结构、再决定是否改模型——把「模型学不会」与「输入信息里本来就没有」严格区分开。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09600" y="6527800"/>
            <a:ext cx="7112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结论基于对该站逐月观测与环境变量的逐项排查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15 / 18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阶段性局限：一份诚实清单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05 · 局限、计划与小结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11684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1　全部实验尚未跑完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03600" y="1168400"/>
            <a:ext cx="8178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H2X 的部分 E1 实验（挖空 40% / 60%）与 E2a 仍在跑，表中以 † 标注；当前结论只基于已完成的结果，不提前推广。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3978" flipH="false" flipV="false">
            <a:off x="609604" y="1847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9600" y="20320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2　跨月记忆模块尚未纳入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03600" y="2032000"/>
            <a:ext cx="8178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带月度记忆的时序模块尚未进入结果表，它对时间补全（E2）的帮助仍待验证，目前结论限于沿河网的空间传递。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3978" flipH="false" flipV="false">
            <a:off x="609604" y="2711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09600" y="28956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3　1970 年代末异常高值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03600" y="2895600"/>
            <a:ext cx="8178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比如 06438000 那一小段历史高值，以月为单位的输入无法承载，模型表现为可解释的系统性低估，需要用不确定性刻画来处理。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3978" flipH="false" flipV="false">
            <a:off x="609604" y="3575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09600" y="37592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4　仅单一流域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403600" y="3759200"/>
            <a:ext cx="8178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目前只覆盖密西西比流域；换到不同气候带、不同地貌的流域还灵不灵尚未检验，河流身份能否迁移仍是开放问题。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3978" flipH="false" flipV="false">
            <a:off x="609604" y="4438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DE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09600" y="46228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5　采样非均匀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403600" y="4622800"/>
            <a:ext cx="81788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站点空间分布不均，E3 的结论受藏起哪些站影响较大（三次决定系数在 0.08–0.53 之间）；生态属性逐项对照的完整结果尚未全部并入总表。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3978" flipH="false" flipV="false">
            <a:off x="609604" y="5581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09600" y="5765800"/>
            <a:ext cx="10972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5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原则：局限不遮掩——未完成项在结果表与论文中显式标注，不以部分结果充当全量结论；下一页给出对应解决计划。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利用河网结构补全稀疏水质观测 · 阶段成果汇报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16 / 18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后续计划：四个阶段，局限逐条销项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05 · 局限、计划与小结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-4318" flipH="false" flipV="false">
            <a:off x="1016004" y="1898650"/>
            <a:ext cx="1010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778000" y="1803400"/>
            <a:ext cx="203200" cy="203200"/>
          </a:xfrm>
          <a:prstGeom prst="ellipse">
            <a:avLst/>
          </a:prstGeom>
          <a:solidFill>
            <a:srgbClr val="B07A2E">
              <a:alpha val="100000"/>
            </a:srgbClr>
          </a:solidFill>
          <a:ln cmpd="sng" cap="flat">
            <a:solidFill>
              <a:srgbClr val="B07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0" y="1803400"/>
            <a:ext cx="203200" cy="203200"/>
          </a:xfrm>
          <a:prstGeom prst="ellipse">
            <a:avLst/>
          </a:prstGeom>
          <a:solidFill>
            <a:srgbClr val="8C6432">
              <a:alpha val="100000"/>
            </a:srgbClr>
          </a:solidFill>
          <a:ln cmpd="sng" cap="flat">
            <a:solidFill>
              <a:srgbClr val="8C64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0" y="1803400"/>
            <a:ext cx="203200" cy="203200"/>
          </a:xfrm>
          <a:prstGeom prst="ellipse">
            <a:avLst/>
          </a:prstGeom>
          <a:solidFill>
            <a:srgbClr val="804A4A">
              <a:alpha val="100000"/>
            </a:srgbClr>
          </a:solidFill>
          <a:ln cmpd="sng" cap="flat">
            <a:solidFill>
              <a:srgbClr val="804A4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0" y="1803400"/>
            <a:ext cx="203200" cy="203200"/>
          </a:xfrm>
          <a:prstGeom prst="ellipse">
            <a:avLst/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1143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P0　本周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" y="1549400"/>
            <a:ext cx="254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结果收口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" y="2235200"/>
            <a:ext cx="254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补齐 H2X 剩余实验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更新主结果对照表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定稿图 1–4 四张主图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03600" y="1143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8C6432"/>
                </a:solidFill>
                <a:latin typeface="Noto Serif SC"/>
                <a:ea typeface="Noto Serif SC"/>
                <a:cs typeface="Noto Serif SC"/>
                <a:sym typeface="Noto Serif SC"/>
              </a:rPr>
              <a:t>P1　近期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03600" y="1549400"/>
            <a:ext cx="254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论文图与证据链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403600" y="2235200"/>
            <a:ext cx="254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方法阶梯示意图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E3 源头站对比地图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生态属性贡献与极端案例附图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97600" y="1143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804A4A"/>
                </a:solidFill>
                <a:latin typeface="Noto Serif SC"/>
                <a:ea typeface="Noto Serif SC"/>
                <a:cs typeface="Noto Serif SC"/>
                <a:sym typeface="Noto Serif SC"/>
              </a:rPr>
              <a:t>P2　方法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197600" y="1549400"/>
            <a:ext cx="254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模型与不确定性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197600" y="2235200"/>
            <a:ext cx="254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H3：带月度记忆的时序模块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完成生态属性逐项对照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预测区间 / 不确定度量化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91600" y="1143000"/>
            <a:ext cx="2590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P3　扩展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991600" y="1549400"/>
            <a:ext cx="2590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外流域与新尺度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991600" y="2235200"/>
            <a:ext cx="25908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第二流域复现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跨流域迁移实验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· 加入洪水事件等短时尺度变量</a:t>
            </a:r>
          </a:p>
        </p:txBody>
      </p:sp>
      <p:cxnSp>
        <p:nvCxnSpPr>
          <p:cNvPr name="Connector 23" id="23"/>
          <p:cNvCxnSpPr/>
          <p:nvPr/>
        </p:nvCxnSpPr>
        <p:spPr>
          <a:xfrm rot="-3978" flipH="false" flipV="false">
            <a:off x="609604" y="4514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09600" y="4699000"/>
            <a:ext cx="1097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写作主线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09600" y="5054600"/>
            <a:ext cx="109728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论文以「问题驱动的逐级对照」为主线：河网 → 方向 → 逐边调节 → 生态身份，每一步的提升都说得清来源；源头站与极端案例作为机制诊断的正文章节，而不是附录里的边角料。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9600" y="5740400"/>
            <a:ext cx="10972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B07A2E"/>
                </a:solidFill>
                <a:latin typeface="Noto Sans SC"/>
                <a:ea typeface="Noto Sans SC"/>
                <a:cs typeface="Noto Sans SC"/>
                <a:sym typeface="Noto Sans SC"/>
              </a:rPr>
              <a:t>近期里程碑　</a:t>
            </a:r>
            <a:r>
              <a:rPr lang="en-US" b="false" i="false" strike="noStrike" u="none" sz="1250">
                <a:solidFill>
                  <a:srgbClr val="26221D"/>
                </a:solidFill>
                <a:latin typeface="Noto Sans SC"/>
                <a:ea typeface="Noto Sans SC"/>
                <a:cs typeface="Noto Sans SC"/>
                <a:sym typeface="Noto Sans SC"/>
              </a:rPr>
              <a:t>本周组会：主结果表与四张主图齐套；投稿前：时序模块结果、第二流域探索性实验与不确定性区间。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组会本周对齐收口进度；投稿前完成时序模块、第二流域与不确定性分析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17 / 18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381000"/>
            <a:ext cx="50800" cy="304800"/>
          </a:xfrm>
          <a:prstGeom prst="roundRect">
            <a:avLst>
              <a:gd name="adj" fmla="val 0"/>
            </a:avLst>
          </a:prstGeom>
          <a:solidFill>
            <a:srgbClr val="5E2A2A">
              <a:alpha val="100000"/>
            </a:srgbClr>
          </a:solidFill>
          <a:ln cmpd="sng" cap="flat">
            <a:solidFill>
              <a:srgbClr val="5E2A2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3302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阶段小结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94800" y="431800"/>
            <a:ext cx="2387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746A"/>
                </a:solidFill>
                <a:latin typeface="Noto Sans SC"/>
                <a:ea typeface="Noto Sans SC"/>
                <a:cs typeface="Noto Sans SC"/>
                <a:sym typeface="Noto Sans SC"/>
              </a:rPr>
              <a:t>05 · 局限、计划与小结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806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5389889" flipH="false" flipV="false">
            <a:off x="3937000" y="33718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-3978" flipH="false" flipV="false">
            <a:off x="609604" y="3371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D1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09600" y="1320800"/>
            <a:ext cx="101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25600" y="13716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问题：稀疏不等于无解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25600" y="1778000"/>
            <a:ext cx="419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8.9% 的（站点 × 月份）格子有观测；河网结构和汇水区生态信息，是两类此前被忽略、却可以明确利用的先验。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24600" y="1320800"/>
            <a:ext cx="101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340600" y="1371600"/>
            <a:ext cx="4241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方法：四级对照阶梯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340600" y="1778000"/>
            <a:ext cx="42418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G0 → H2X：河网、方向、逐边调节、生态身份逐级加入，同一套考题下每一步的提升都说得清来源。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" y="3606800"/>
            <a:ext cx="101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25600" y="36576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结果：两条优势线清晰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625600" y="4064000"/>
            <a:ext cx="419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E2b 平均绝对误差 0.96、决定系数 0.47，E3 平均绝对误差 1.79；源头站 2.79 → 2.21。方向强在时间补全，生态身份强在向新站点推广。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24600" y="3606800"/>
            <a:ext cx="101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B07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40600" y="3657600"/>
            <a:ext cx="4241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6221D"/>
                </a:solidFill>
                <a:latin typeface="Noto Serif SC"/>
                <a:ea typeface="Noto Serif SC"/>
                <a:cs typeface="Noto Serif SC"/>
                <a:sym typeface="Noto Serif SC"/>
              </a:rPr>
              <a:t>状态与下一步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40600" y="4064000"/>
            <a:ext cx="42418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50">
                <a:solidFill>
                  <a:srgbClr val="464038"/>
                </a:solidFill>
                <a:latin typeface="Noto Sans SC"/>
                <a:ea typeface="Noto Sans SC"/>
                <a:cs typeface="Noto Sans SC"/>
                <a:sym typeface="Noto Sans SC"/>
              </a:rPr>
              <a:t>主结论已经可以汇报；剩余实验与图 1–4 正在收尾；带月度记忆的时序模块、第二流域与不确定性刻画是下一步，全部分析过程可重复。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1459" flipH="false" flipV="false">
            <a:off x="4191011" y="57340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7A2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3556000" y="5867400"/>
            <a:ext cx="508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5E2A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谢谢，欢迎批评指正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3978" flipH="false" flipV="false">
            <a:off x="609604" y="6445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C0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09600" y="6527800"/>
            <a:ext cx="660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全部结果基于统一固定的实验，每个数字都可逐格复核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0" y="6527800"/>
            <a:ext cx="1422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8F82"/>
                </a:solidFill>
                <a:latin typeface="Noto Sans SC"/>
                <a:ea typeface="Noto Sans SC"/>
                <a:cs typeface="Noto Sans SC"/>
                <a:sym typeface="Noto Sans SC"/>
              </a:rPr>
              <a:t>18 / 18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